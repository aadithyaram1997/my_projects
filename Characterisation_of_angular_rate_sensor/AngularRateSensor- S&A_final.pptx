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charts/style1.xml" ContentType="application/vnd.ms-office.chartstyl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charts/colors1.xml" ContentType="application/vnd.ms-office.chartcolorstyl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9144000" cy="6858000"/>
  <p:defaultTextStyle>
    <a:defPPr>
      <a:defRPr lang="en-US"/>
    </a:defPPr>
    <a:lvl1pPr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>
        <a:solidFill>
          <a:schemeClr val="tx1"/>
        </a:solidFill>
        <a:latin typeface="Arial"/>
        <a:ea typeface="+mn-ea"/>
        <a:cs typeface="+mn-cs"/>
      </a:defRPr>
    </a:lvl6pPr>
    <a:lvl7pPr marL="2743200" algn="l" defTabSz="914400">
      <a:defRPr>
        <a:solidFill>
          <a:schemeClr val="tx1"/>
        </a:solidFill>
        <a:latin typeface="Arial"/>
        <a:ea typeface="+mn-ea"/>
        <a:cs typeface="+mn-cs"/>
      </a:defRPr>
    </a:lvl7pPr>
    <a:lvl8pPr marL="3200400" algn="l" defTabSz="914400">
      <a:defRPr>
        <a:solidFill>
          <a:schemeClr val="tx1"/>
        </a:solidFill>
        <a:latin typeface="Arial"/>
        <a:ea typeface="+mn-ea"/>
        <a:cs typeface="+mn-cs"/>
      </a:defRPr>
    </a:lvl8pPr>
    <a:lvl9pPr marL="3657600" algn="l" defTabSz="914400">
      <a:defRPr>
        <a:solidFill>
          <a:schemeClr val="tx1"/>
        </a:solidFill>
        <a:latin typeface="Arial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DF92EEDC-EE0C-F62C-6FFB-81ECE491A34C}">
  <a:tblStyle styleId="{6A284F7C-F091-DC8C-58A7-07C9AAADE816}" styleName="Themed Style 1 - Accent 1">
    <a:wholeTbl>
      <a:tcTxStyle>
        <a:fontRef idx="minor"/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noFill/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solidFill>
            <a:schemeClr val="accent1">
              <a:tint val="60000"/>
            </a:schemeClr>
          </a:solidFill>
        </a:fill>
      </a:tcStyle>
    </a:wholeTbl>
    <a:band1H>
      <a:tcStyle>
        <a:tcBdr/>
        <a:fill>
          <a:solidFill>
            <a:schemeClr val="accent1">
              <a:tint val="8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80000"/>
            </a:schemeClr>
          </a:solidFill>
        </a:fill>
      </a:tcStyle>
    </a:band1V>
    <a:band2V>
      <a:tcStyle>
        <a:tcBdr/>
        <a:fill>
          <a:solidFill>
            <a:schemeClr val="accent1">
              <a:tint val="80000"/>
            </a:schemeClr>
          </a:solidFill>
        </a:fill>
      </a:tcStyle>
    </a:band2V>
    <a:lastCol>
      <a:tcTxStyle b="on">
        <a:fontRef idx="minor"/>
        <a:schemeClr val="dk1"/>
      </a:tcTxStyle>
      <a:tcStyle>
        <a:tcBdr/>
      </a:tcStyle>
    </a:lastCol>
    <a:firstCol>
      <a:tcTxStyle b="on">
        <a:fontRef idx="minor"/>
        <a:schemeClr val="dk1"/>
      </a:tcTxStyle>
      <a:tcStyle>
        <a:tcBdr/>
      </a:tcStyle>
    </a:firstCol>
    <a:lastRow>
      <a:tcTxStyle b="on">
        <a:fontRef idx="minor"/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</a:tcBdr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127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F92EEDC-EE0C-F62C-6FFB-81ECE491A34C}" styleName="Themed Style 1 - Accent 1">
    <a:wholeTbl>
      <a:tcTxStyle>
        <a:fontRef idx="minor"/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noFill/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solidFill>
            <a:schemeClr val="accent1">
              <a:tint val="60000"/>
            </a:schemeClr>
          </a:solidFill>
        </a:fill>
      </a:tcStyle>
    </a:wholeTbl>
    <a:band1H>
      <a:tcStyle>
        <a:tcBdr/>
        <a:fill>
          <a:solidFill>
            <a:schemeClr val="accent1">
              <a:tint val="8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80000"/>
            </a:schemeClr>
          </a:solidFill>
        </a:fill>
      </a:tcStyle>
    </a:band1V>
    <a:band2V>
      <a:tcStyle>
        <a:tcBdr/>
        <a:fill>
          <a:solidFill>
            <a:schemeClr val="accent1">
              <a:tint val="80000"/>
            </a:schemeClr>
          </a:solidFill>
        </a:fill>
      </a:tcStyle>
    </a:band2V>
    <a:lastCol>
      <a:tcTxStyle b="on">
        <a:fontRef idx="minor"/>
        <a:schemeClr val="dk1"/>
      </a:tcTxStyle>
      <a:tcStyle>
        <a:tcBdr/>
      </a:tcStyle>
    </a:lastCol>
    <a:firstCol>
      <a:tcTxStyle b="on">
        <a:fontRef idx="minor"/>
        <a:schemeClr val="dk1"/>
      </a:tcTxStyle>
      <a:tcStyle>
        <a:tcBdr/>
      </a:tcStyle>
    </a:firstCol>
    <a:lastRow>
      <a:tcTxStyle b="on">
        <a:fontRef idx="minor"/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</a:tcBdr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127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microsoft.com/office/2011/relationships/chartStyle" Target="style1.xml" /><Relationship Id="rId2" Type="http://schemas.microsoft.com/office/2011/relationships/chartColorStyle" Target="colors1.xml" /><Relationship Id="rId3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4="http://schemas.microsoft.com/office/drawing/2007/8/2/chart">
  <c:date1904 val="0"/>
  <c:lang val="de-DE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ADXRS</a:t>
            </a:r>
            <a:r>
              <a:rPr lang="en-US" sz="2400"/>
              <a:t> 300</a:t>
            </a:r>
            <a:endParaRPr lang="en-US" sz="2400"/>
          </a:p>
        </c:rich>
      </c:tx>
      <c:layout>
        <c:manualLayout>
          <c:xMode val="edge"/>
          <c:yMode val="edge"/>
          <c:x val="0.40134999999999998"/>
          <c:y val="0.00672999999999999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072599999999999998"/>
          <c:y val="0.10662000000000001"/>
          <c:w val="0.89371"/>
          <c:h val="0.79664000000000001"/>
        </c:manualLayout>
      </c:layout>
      <c:scatterChart>
        <c:scatterStyle val="lineMarker"/>
        <c:varyColors val="0"/>
        <c:ser>
          <c:idx val="1"/>
          <c:order val="0"/>
          <c:tx>
            <c:strRef>
              <c:f>Tabelle1!$F$3</c:f>
              <c:strCache>
                <c:ptCount val="1"/>
                <c:pt idx="0">
                  <c:v xml:space="preserve">Angular Rate</c:v>
                </c:pt>
              </c:strCache>
            </c:strRef>
          </c:tx>
          <c:spPr bwMode="auto">
            <a:prstGeom prst="rect">
              <a:avLst/>
            </a:prstGeom>
            <a:ln w="25400" cap="rnd">
              <a:noFill/>
              <a:round/>
            </a:ln>
            <a:effectLst/>
          </c:spPr>
          <c:marker>
            <c:symbol val="circle"/>
            <c:size val="5"/>
            <c:spPr bwMode="auto">
              <a:prstGeom prst="rect">
                <a:avLst/>
              </a:prstGeom>
              <a:solidFill>
                <a:schemeClr val="tx1"/>
              </a:solidFill>
              <a:ln/>
            </c:spPr>
          </c:marker>
          <c:xVal>
            <c:numRef>
              <c:f>Tabelle1!$F$5:$F$15</c:f>
              <c:numCache>
                <c:formatCode>0.000</c:formatCode>
                <c:ptCount val="11"/>
                <c:pt idx="0">
                  <c:v>-348.83720930232556</c:v>
                </c:pt>
                <c:pt idx="1">
                  <c:v>-138.5148133897653</c:v>
                </c:pt>
                <c:pt idx="2">
                  <c:v>-71.14624505928855</c:v>
                </c:pt>
                <c:pt idx="3">
                  <c:v>-35.53099091985788</c:v>
                </c:pt>
                <c:pt idx="4">
                  <c:v>-21.505376344086024</c:v>
                </c:pt>
                <c:pt idx="5">
                  <c:v>-7.219251336898396</c:v>
                </c:pt>
                <c:pt idx="6">
                  <c:v>14.356356675705854</c:v>
                </c:pt>
                <c:pt idx="7">
                  <c:v>28.125</c:v>
                </c:pt>
                <c:pt idx="8">
                  <c:v>35.806644121742586</c:v>
                </c:pt>
                <c:pt idx="9">
                  <c:v>105.7890096973259</c:v>
                </c:pt>
                <c:pt idx="10">
                  <c:v>201.79372197309416</c:v>
                </c:pt>
              </c:numCache>
            </c:numRef>
          </c:xVal>
          <c:yVal>
            <c:numRef>
              <c:f>Tabelle1!$H$5:$H$15</c:f>
              <c:numCache>
                <c:formatCode>#,##0.000</c:formatCode>
                <c:ptCount val="11"/>
                <c:pt idx="0">
                  <c:v>0.762</c:v>
                </c:pt>
                <c:pt idx="1">
                  <c:v>1.843</c:v>
                </c:pt>
                <c:pt idx="2">
                  <c:v>2.191</c:v>
                </c:pt>
                <c:pt idx="3">
                  <c:v>2.375</c:v>
                </c:pt>
                <c:pt idx="4">
                  <c:v>2.447</c:v>
                </c:pt>
                <c:pt idx="5">
                  <c:v>2.521</c:v>
                </c:pt>
                <c:pt idx="6">
                  <c:v>2.632</c:v>
                </c:pt>
                <c:pt idx="7">
                  <c:v>2.703</c:v>
                </c:pt>
                <c:pt idx="8">
                  <c:v>2.743</c:v>
                </c:pt>
                <c:pt idx="9">
                  <c:v>3.104</c:v>
                </c:pt>
                <c:pt idx="10">
                  <c:v>3.598</c:v>
                </c:pt>
              </c:numCache>
            </c:numRef>
          </c:y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axId val="664968983"/>
        <c:axId val="664968984"/>
      </c:scatterChart>
      <c:valAx>
        <c:axId val="664968983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1400"/>
                  <a:t>Angular</a:t>
                </a:r>
                <a:r>
                  <a:rPr lang="de-DE" sz="1400"/>
                  <a:t> Rate (deg/sec)</a:t>
                </a:r>
                <a:endParaRPr lang="de-DE" sz="1400"/>
              </a:p>
            </c:rich>
          </c:tx>
          <c:layout>
            <c:manualLayout>
              <c:x val="0.0067999999999999996"/>
              <c:y val="0.95499999999999996"/>
            </c:manualLayout>
          </c:layout>
          <c:overlay val="0"/>
          <c:spPr bwMode="auto">
            <a:prstGeom prst="rect">
              <a:avLst/>
            </a:prstGeom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0.000" sourceLinked="1"/>
        <c:majorTickMark val="out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4968984"/>
        <c:crosses val="autoZero"/>
        <c:crossBetween val="midCat"/>
      </c:valAx>
      <c:valAx>
        <c:axId val="664968984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1400" b="0" i="0"/>
                  <a:t>Output Voltage ()Volts</a:t>
                </a:r>
                <a:endParaRPr lang="de-DE" sz="800"/>
              </a:p>
            </c:rich>
          </c:tx>
          <c:layout/>
          <c:overlay val="0"/>
          <c:spPr bwMode="auto">
            <a:prstGeom prst="rect">
              <a:avLst/>
            </a:prstGeom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#,##0.000" sourceLinked="1"/>
        <c:majorTickMark val="out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64968983"/>
        <c:crosses val="autoZero"/>
        <c:crossBetween val="midCat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759106" y="1321836"/>
      <a:ext cx="7095152" cy="5092958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Titelfolie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" name="Gerade Verbindung 3" hidden="0"/>
          <p:cNvCxnSpPr>
            <a:cxnSpLocks/>
          </p:cNvCxnSpPr>
          <p:nvPr isPhoto="0" userDrawn="0"/>
        </p:nvCxnSpPr>
        <p:spPr bwMode="auto">
          <a:xfrm>
            <a:off x="287338" y="6516688"/>
            <a:ext cx="8064500" cy="15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 hidden="0"/>
          <p:cNvCxnSpPr>
            <a:cxnSpLocks/>
          </p:cNvCxnSpPr>
          <p:nvPr isPhoto="0" userDrawn="0"/>
        </p:nvCxnSpPr>
        <p:spPr bwMode="auto">
          <a:xfrm>
            <a:off x="287338" y="6516688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8" descr="FHAAC_RGB_oBL-r.jpg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8564563" y="287338"/>
            <a:ext cx="579437" cy="17287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288000" y="2016000"/>
            <a:ext cx="8064000" cy="2520000"/>
          </a:xfrm>
        </p:spPr>
        <p:txBody>
          <a:bodyPr/>
          <a:lstStyle>
            <a:lvl1pPr algn="l">
              <a:defRPr sz="48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288000" y="4608000"/>
            <a:ext cx="8064000" cy="1440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7" name="Fußzeilenplatzhalter 4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287338" y="6551613"/>
            <a:ext cx="8064500" cy="215899"/>
          </a:xfr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>
                <a:solidFill>
                  <a:prstClr val="black"/>
                </a:solidFill>
              </a:rPr>
              <a:t>© FH AACHEN </a:t>
            </a:r>
            <a:r>
              <a:rPr lang="de-DE">
                <a:solidFill>
                  <a:prstClr val="black"/>
                </a:solidFill>
              </a:rPr>
              <a:t>UNIVERSITY OF APPLIED SCIENCES  |  FACHBEREICH XXXXXX XXXXXXXXXXXXX  |  WWW.FH-AACHEN.DE</a:t>
            </a:r>
            <a:endParaRPr/>
          </a:p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Kapitelanfang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" name="Gerade Verbindung 3" hidden="0"/>
          <p:cNvCxnSpPr>
            <a:cxnSpLocks/>
          </p:cNvCxnSpPr>
          <p:nvPr isPhoto="0" userDrawn="0"/>
        </p:nvCxnSpPr>
        <p:spPr bwMode="auto">
          <a:xfrm>
            <a:off x="285750" y="1152525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 hidden="0"/>
          <p:cNvCxnSpPr>
            <a:cxnSpLocks/>
          </p:cNvCxnSpPr>
          <p:nvPr isPhoto="0" userDrawn="0"/>
        </p:nvCxnSpPr>
        <p:spPr bwMode="auto">
          <a:xfrm>
            <a:off x="287338" y="6516688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 hidden="0"/>
          <p:cNvSpPr txBox="1"/>
          <p:nvPr isPhoto="0" userDrawn="0"/>
        </p:nvSpPr>
        <p:spPr bwMode="auto">
          <a:xfrm>
            <a:off x="287338" y="6551613"/>
            <a:ext cx="8280400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tabLst>
                <a:tab pos="8077200" algn="r"/>
              </a:tabLst>
              <a:defRPr/>
            </a:pPr>
            <a:r>
              <a:rPr lang="de-DE" sz="800" b="1">
                <a:latin typeface="Verdana"/>
              </a:rPr>
              <a:t>© FH AACHEN </a:t>
            </a:r>
            <a:r>
              <a:rPr lang="de-DE" sz="800">
                <a:latin typeface="Verdana"/>
              </a:rPr>
              <a:t>UNIVERSITY OF APPLIED SCIENCES	  |  </a:t>
            </a:r>
            <a:fld id="{5AA2B3AE-1895-45C1-9F88-89FE24281A0A}" type="slidenum">
              <a:rPr lang="de-DE" sz="800">
                <a:latin typeface="Verdana"/>
              </a:rPr>
              <a:t/>
            </a:fld>
            <a:endParaRPr lang="de-DE" sz="800">
              <a:latin typeface="Verdana"/>
            </a:endParaRPr>
          </a:p>
        </p:txBody>
      </p:sp>
      <p:pic>
        <p:nvPicPr>
          <p:cNvPr id="9" name="Grafik 9" descr="FHAAC_RGB_oBL-r.jpg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8564563" y="287338"/>
            <a:ext cx="579437" cy="172878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Inhaltsplatzhalter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288000" y="2016000"/>
            <a:ext cx="8064000" cy="433575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tx1"/>
                </a:solidFill>
                <a:latin typeface="Verdana"/>
              </a:defRPr>
            </a:lvl1pPr>
            <a:lvl2pPr marL="0" indent="0">
              <a:spcBef>
                <a:spcPts val="2000"/>
              </a:spcBef>
              <a:buNone/>
              <a:defRPr sz="2400">
                <a:solidFill>
                  <a:schemeClr val="tx1"/>
                </a:solidFill>
                <a:latin typeface="Verdana"/>
              </a:defRPr>
            </a:lvl2pPr>
            <a:lvl3pPr marL="723900" indent="-368300">
              <a:buFont typeface="Verdana"/>
              <a:buChar char="&gt;"/>
              <a:defRPr sz="2400">
                <a:solidFill>
                  <a:schemeClr val="tx1"/>
                </a:solidFill>
                <a:latin typeface="Verdana"/>
              </a:defRPr>
            </a:lvl3pPr>
            <a:lvl4pPr marL="0" indent="0">
              <a:spcBef>
                <a:spcPts val="1600"/>
              </a:spcBef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4pPr>
            <a:lvl5pPr marL="723900" indent="-368300">
              <a:buFont typeface="Verdana"/>
              <a:buChar char="&gt;"/>
              <a:defRPr sz="1600">
                <a:solidFill>
                  <a:schemeClr val="tx1"/>
                </a:solidFill>
                <a:latin typeface="Verdana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Text einspaltig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" name="Gerade Verbindung 3" hidden="0"/>
          <p:cNvCxnSpPr>
            <a:cxnSpLocks/>
          </p:cNvCxnSpPr>
          <p:nvPr isPhoto="0" userDrawn="0"/>
        </p:nvCxnSpPr>
        <p:spPr bwMode="auto">
          <a:xfrm>
            <a:off x="285750" y="1152525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 hidden="0"/>
          <p:cNvCxnSpPr>
            <a:cxnSpLocks/>
          </p:cNvCxnSpPr>
          <p:nvPr isPhoto="0" userDrawn="0"/>
        </p:nvCxnSpPr>
        <p:spPr bwMode="auto">
          <a:xfrm>
            <a:off x="287338" y="6516688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 hidden="0"/>
          <p:cNvSpPr txBox="1"/>
          <p:nvPr isPhoto="0" userDrawn="0"/>
        </p:nvSpPr>
        <p:spPr bwMode="auto">
          <a:xfrm>
            <a:off x="287338" y="6551613"/>
            <a:ext cx="8280400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tabLst>
                <a:tab pos="8077200" algn="r"/>
              </a:tabLst>
              <a:defRPr/>
            </a:pPr>
            <a:r>
              <a:rPr lang="de-DE" sz="800" b="1">
                <a:latin typeface="Verdana"/>
              </a:rPr>
              <a:t>© FH AACHEN </a:t>
            </a:r>
            <a:r>
              <a:rPr lang="de-DE" sz="800">
                <a:latin typeface="Verdana"/>
              </a:rPr>
              <a:t>UNIVERSITY OF APPLIED SCIENCES	  |  </a:t>
            </a:r>
            <a:fld id="{8E565612-6B0B-47BA-9A27-C8BC7F68E94A}" type="slidenum">
              <a:rPr lang="de-DE" sz="800">
                <a:latin typeface="Verdana"/>
              </a:rPr>
              <a:t/>
            </a:fld>
            <a:endParaRPr lang="de-DE" sz="800">
              <a:latin typeface="Verdana"/>
            </a:endParaRPr>
          </a:p>
        </p:txBody>
      </p:sp>
      <p:pic>
        <p:nvPicPr>
          <p:cNvPr id="9" name="Grafik 9" descr="FHAAC_RGB_oBL-r.jpg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8564563" y="287338"/>
            <a:ext cx="579437" cy="172878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Inhaltsplatzhalter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288000" y="1295998"/>
            <a:ext cx="8064000" cy="504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Verdana"/>
              </a:defRPr>
            </a:lvl1pPr>
            <a:lvl2pPr marL="0" indent="0">
              <a:spcBef>
                <a:spcPts val="2000"/>
              </a:spcBef>
              <a:buNone/>
              <a:defRPr sz="2400">
                <a:solidFill>
                  <a:schemeClr val="tx1"/>
                </a:solidFill>
                <a:latin typeface="Verdana"/>
              </a:defRPr>
            </a:lvl2pPr>
            <a:lvl3pPr marL="723900" indent="-368300">
              <a:buFont typeface="Verdana"/>
              <a:buChar char="&gt;"/>
              <a:defRPr>
                <a:solidFill>
                  <a:schemeClr val="tx1"/>
                </a:solidFill>
                <a:latin typeface="Verdana"/>
              </a:defRPr>
            </a:lvl3pPr>
            <a:lvl4pPr marL="0" indent="0">
              <a:spcBef>
                <a:spcPts val="1600"/>
              </a:spcBef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4pPr>
            <a:lvl5pPr marL="723900" indent="-368300">
              <a:buFont typeface="Verdana"/>
              <a:buChar char="&gt;"/>
              <a:defRPr sz="1600">
                <a:solidFill>
                  <a:schemeClr val="tx1"/>
                </a:solidFill>
                <a:latin typeface="Verdana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Text zweispaltig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" name="Gerade Verbindung 4" hidden="0"/>
          <p:cNvCxnSpPr>
            <a:cxnSpLocks/>
          </p:cNvCxnSpPr>
          <p:nvPr isPhoto="0" userDrawn="0"/>
        </p:nvCxnSpPr>
        <p:spPr bwMode="auto">
          <a:xfrm>
            <a:off x="285750" y="1152525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 hidden="0"/>
          <p:cNvCxnSpPr>
            <a:cxnSpLocks/>
          </p:cNvCxnSpPr>
          <p:nvPr isPhoto="0" userDrawn="0"/>
        </p:nvCxnSpPr>
        <p:spPr bwMode="auto">
          <a:xfrm>
            <a:off x="287338" y="6516688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 hidden="0"/>
          <p:cNvSpPr txBox="1"/>
          <p:nvPr isPhoto="0" userDrawn="0"/>
        </p:nvSpPr>
        <p:spPr bwMode="auto">
          <a:xfrm>
            <a:off x="287338" y="6551613"/>
            <a:ext cx="8280400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tabLst>
                <a:tab pos="8077200" algn="r"/>
              </a:tabLst>
              <a:defRPr/>
            </a:pPr>
            <a:r>
              <a:rPr lang="de-DE" sz="800" b="1">
                <a:latin typeface="Verdana"/>
              </a:rPr>
              <a:t>© FH AACHEN </a:t>
            </a:r>
            <a:r>
              <a:rPr lang="de-DE" sz="800">
                <a:latin typeface="Verdana"/>
              </a:rPr>
              <a:t>UNIVERSITY OF APPLIED SCIENCES	  |  </a:t>
            </a:r>
            <a:fld id="{88CE292B-5762-4A23-A5B2-BDABB31B2F42}" type="slidenum">
              <a:rPr lang="de-DE" sz="800">
                <a:latin typeface="Verdana"/>
              </a:rPr>
              <a:t/>
            </a:fld>
            <a:endParaRPr lang="de-DE" sz="800">
              <a:latin typeface="Verdana"/>
            </a:endParaRPr>
          </a:p>
        </p:txBody>
      </p:sp>
      <p:pic>
        <p:nvPicPr>
          <p:cNvPr id="8" name="Grafik 9" descr="FHAAC_RGB_oBL-r.jpg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8564563" y="287338"/>
            <a:ext cx="579437" cy="17287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Inhaltsplatzhalter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288000" y="1296000"/>
            <a:ext cx="3888000" cy="5040000"/>
          </a:xfrm>
        </p:spPr>
        <p:txBody>
          <a:bodyPr/>
          <a:lstStyle>
            <a:lvl1pPr>
              <a:defRPr sz="2400"/>
            </a:lvl1pPr>
            <a:lvl2pPr marL="0" indent="12700">
              <a:spcBef>
                <a:spcPts val="2000"/>
              </a:spcBef>
              <a:defRPr sz="2400"/>
            </a:lvl2pPr>
            <a:lvl3pPr>
              <a:defRPr sz="2400"/>
            </a:lvl3pPr>
            <a:lvl4pPr marL="0" indent="0"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de-DE"/>
          </a:p>
        </p:txBody>
      </p:sp>
      <p:sp>
        <p:nvSpPr>
          <p:cNvPr id="10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Inhaltsplatzhalter 2" hidden="0"/>
          <p:cNvSpPr>
            <a:spLocks noGrp="1"/>
          </p:cNvSpPr>
          <p:nvPr isPhoto="0" userDrawn="0">
            <p:ph sz="half" idx="10" hasCustomPrompt="0"/>
          </p:nvPr>
        </p:nvSpPr>
        <p:spPr bwMode="auto">
          <a:xfrm>
            <a:off x="4464000" y="1296000"/>
            <a:ext cx="3888000" cy="5040000"/>
          </a:xfrm>
        </p:spPr>
        <p:txBody>
          <a:bodyPr/>
          <a:lstStyle>
            <a:lvl1pPr>
              <a:defRPr sz="2400"/>
            </a:lvl1pPr>
            <a:lvl2pPr marL="0" indent="0">
              <a:spcBef>
                <a:spcPts val="2000"/>
              </a:spcBef>
              <a:defRPr sz="2400"/>
            </a:lvl2pPr>
            <a:lvl3pPr>
              <a:defRPr sz="2400"/>
            </a:lvl3pPr>
            <a:lvl4pPr marL="0" indent="0"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Schlussblat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" name="Gerade Verbindung 2" hidden="0"/>
          <p:cNvCxnSpPr>
            <a:cxnSpLocks/>
          </p:cNvCxnSpPr>
          <p:nvPr isPhoto="0" userDrawn="0"/>
        </p:nvCxnSpPr>
        <p:spPr bwMode="auto">
          <a:xfrm>
            <a:off x="287338" y="6516688"/>
            <a:ext cx="8064500" cy="15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3" hidden="0"/>
          <p:cNvCxnSpPr>
            <a:cxnSpLocks/>
          </p:cNvCxnSpPr>
          <p:nvPr isPhoto="0" userDrawn="0"/>
        </p:nvCxnSpPr>
        <p:spPr bwMode="auto">
          <a:xfrm>
            <a:off x="287338" y="6516688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8" descr="FHAAC_RGB_oBL-r.jpg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8564563" y="287338"/>
            <a:ext cx="579437" cy="17287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288000" y="2016000"/>
            <a:ext cx="8064000" cy="2520000"/>
          </a:xfrm>
        </p:spPr>
        <p:txBody>
          <a:bodyPr/>
          <a:lstStyle>
            <a:lvl1pPr algn="l"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Fußzeilenplatzhalter 4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287338" y="6551613"/>
            <a:ext cx="8064500" cy="215899"/>
          </a:xfr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>
                <a:solidFill>
                  <a:prstClr val="black"/>
                </a:solidFill>
              </a:rPr>
              <a:t>© FH AACHEN </a:t>
            </a:r>
            <a:r>
              <a:rPr lang="de-DE">
                <a:solidFill>
                  <a:prstClr val="black"/>
                </a:solidFill>
              </a:rPr>
              <a:t>UNIVERSITY OF APPLIED SCIENCES  |  FACHBEREICH XXXXXXXXXXXXXXXXXXXXXXXXXXXXX |  WWW.FH-AACHEN.DE</a:t>
            </a:r>
            <a:endParaRPr/>
          </a:p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" name="Titelplatzhalt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027" name="Textplatzhalt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fld id="{8450F466-BBF2-4633-9154-1500CA4C57E8}" type="datetime4">
              <a:rPr lang="de-DE"/>
              <a:t/>
            </a:fld>
            <a:endParaRPr lang="de-DE"/>
          </a:p>
        </p:txBody>
      </p:sp>
      <p:sp>
        <p:nvSpPr>
          <p:cNvPr id="5" name="Fußzeilenplatzhalter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de-DE" sz="800" b="1" i="0" u="none" strike="noStrike" cap="none" spc="0">
                <a:ln>
                  <a:noFill/>
                </a:ln>
                <a:solidFill>
                  <a:prstClr val="black"/>
                </a:solidFill>
                <a:latin typeface="Verdana"/>
              </a:rPr>
              <a:t>© FH AACHEN </a:t>
            </a:r>
            <a:r>
              <a:rPr lang="de-DE" sz="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Verdana"/>
              </a:rPr>
              <a:t>UNIVERSITY OF APPLIED SCIENCES</a:t>
            </a:r>
            <a:endParaRPr lang="de-DE"/>
          </a:p>
        </p:txBody>
      </p:sp>
      <p:sp>
        <p:nvSpPr>
          <p:cNvPr id="6" name="Foliennummernplatzhalter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fld id="{90B3D03B-BD96-4A58-BB17-B7BDB6FC5D16}" type="slidenum">
              <a:rPr lang="de-DE"/>
              <a:t/>
            </a:fld>
            <a:endParaRPr lang="de-DE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1" ftr="1" hdr="0" sldNum="1"/>
  <p:txStyles>
    <p:titleStyle>
      <a:lvl1pPr algn="l">
        <a:spcBef>
          <a:spcPts val="0"/>
        </a:spcBef>
        <a:spcAft>
          <a:spcPts val="0"/>
        </a:spcAft>
        <a:defRPr sz="2400">
          <a:solidFill>
            <a:schemeClr val="tx1"/>
          </a:solidFill>
          <a:latin typeface="Verdana"/>
          <a:ea typeface="+mj-ea"/>
          <a:cs typeface="+mj-cs"/>
        </a:defRPr>
      </a:lvl1pPr>
      <a:lvl2pPr algn="l">
        <a:spcBef>
          <a:spcPts val="0"/>
        </a:spcBef>
        <a:spcAft>
          <a:spcPts val="0"/>
        </a:spcAft>
        <a:defRPr sz="2400">
          <a:solidFill>
            <a:schemeClr val="tx1"/>
          </a:solidFill>
          <a:latin typeface="Verdana"/>
        </a:defRPr>
      </a:lvl2pPr>
      <a:lvl3pPr algn="l">
        <a:spcBef>
          <a:spcPts val="0"/>
        </a:spcBef>
        <a:spcAft>
          <a:spcPts val="0"/>
        </a:spcAft>
        <a:defRPr sz="2400">
          <a:solidFill>
            <a:schemeClr val="tx1"/>
          </a:solidFill>
          <a:latin typeface="Verdana"/>
        </a:defRPr>
      </a:lvl3pPr>
      <a:lvl4pPr algn="l">
        <a:spcBef>
          <a:spcPts val="0"/>
        </a:spcBef>
        <a:spcAft>
          <a:spcPts val="0"/>
        </a:spcAft>
        <a:defRPr sz="2400">
          <a:solidFill>
            <a:schemeClr val="tx1"/>
          </a:solidFill>
          <a:latin typeface="Verdana"/>
        </a:defRPr>
      </a:lvl4pPr>
      <a:lvl5pPr algn="l">
        <a:spcBef>
          <a:spcPts val="0"/>
        </a:spcBef>
        <a:spcAft>
          <a:spcPts val="0"/>
        </a:spcAft>
        <a:defRPr sz="2400">
          <a:solidFill>
            <a:schemeClr val="tx1"/>
          </a:solidFill>
          <a:latin typeface="Verdana"/>
        </a:defRPr>
      </a:lvl5pPr>
      <a:lvl6pPr marL="457200" algn="ctr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6pPr>
      <a:lvl7pPr marL="914400" algn="ctr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7pPr>
      <a:lvl8pPr marL="1371600" algn="ctr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8pPr>
      <a:lvl9pPr marL="1828800" algn="ctr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defRPr sz="2400">
          <a:solidFill>
            <a:schemeClr val="tx1"/>
          </a:solidFill>
          <a:latin typeface="Verdana"/>
          <a:ea typeface="+mn-ea"/>
          <a:cs typeface="+mn-cs"/>
        </a:defRPr>
      </a:lvl1pPr>
      <a:lvl2pPr marL="742950" indent="-285750" algn="l">
        <a:spcBef>
          <a:spcPts val="2400"/>
        </a:spcBef>
        <a:spcAft>
          <a:spcPts val="0"/>
        </a:spcAft>
        <a:defRPr sz="2400">
          <a:solidFill>
            <a:schemeClr val="tx1"/>
          </a:solidFill>
          <a:latin typeface="Verdana"/>
          <a:ea typeface="+mn-ea"/>
          <a:cs typeface="+mn-cs"/>
        </a:defRPr>
      </a:lvl2pPr>
      <a:lvl3pPr marL="723900" indent="-355600" algn="l">
        <a:spcBef>
          <a:spcPts val="0"/>
        </a:spcBef>
        <a:spcAft>
          <a:spcPts val="0"/>
        </a:spcAft>
        <a:buFont typeface="Verdana"/>
        <a:buChar char="&gt;"/>
        <a:defRPr sz="2400">
          <a:solidFill>
            <a:schemeClr val="tx1"/>
          </a:solidFill>
          <a:latin typeface="Verdana"/>
          <a:ea typeface="+mn-ea"/>
          <a:cs typeface="+mn-cs"/>
        </a:defRPr>
      </a:lvl3pPr>
      <a:lvl4pPr marL="1600200" indent="-228600" algn="l">
        <a:spcBef>
          <a:spcPts val="1600"/>
        </a:spcBef>
        <a:spcAft>
          <a:spcPts val="0"/>
        </a:spcAft>
        <a:buFont typeface="Arial"/>
        <a:defRPr sz="1600">
          <a:solidFill>
            <a:schemeClr val="tx1"/>
          </a:solidFill>
          <a:latin typeface="Verdana"/>
          <a:ea typeface="+mn-ea"/>
          <a:cs typeface="+mn-cs"/>
        </a:defRPr>
      </a:lvl4pPr>
      <a:lvl5pPr marL="723900" indent="-368300" algn="l">
        <a:spcBef>
          <a:spcPts val="0"/>
        </a:spcBef>
        <a:spcAft>
          <a:spcPts val="0"/>
        </a:spcAft>
        <a:buFont typeface="Arial"/>
        <a:buChar char="&gt;"/>
        <a:defRPr sz="1600">
          <a:solidFill>
            <a:schemeClr val="tx1"/>
          </a:solidFill>
          <a:latin typeface="Verdana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299669" y="990000"/>
            <a:ext cx="8064000" cy="2520000"/>
          </a:xfrm>
        </p:spPr>
        <p:txBody>
          <a:bodyPr/>
          <a:lstStyle/>
          <a:p>
            <a:pPr>
              <a:defRPr/>
            </a:pPr>
            <a:r>
              <a:rPr lang="en-IN">
                <a:solidFill>
                  <a:srgbClr val="00B1AC"/>
                </a:solidFill>
              </a:rPr>
              <a:t>Characterization of</a:t>
            </a:r>
            <a:br>
              <a:rPr lang="en-IN">
                <a:solidFill>
                  <a:srgbClr val="00B1AC"/>
                </a:solidFill>
              </a:rPr>
            </a:br>
            <a:r>
              <a:rPr lang="en-IN"/>
              <a:t>Angular Rate Sensors</a:t>
            </a:r>
            <a:br>
              <a:rPr lang="en-IN"/>
            </a:br>
            <a:r>
              <a:rPr lang="en-IN" sz="1800"/>
              <a:t>ADXRS300 &amp; BOSCH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SMG040</a:t>
            </a:r>
            <a:endParaRPr lang="en-IN" sz="3200"/>
          </a:p>
        </p:txBody>
      </p:sp>
      <p:sp>
        <p:nvSpPr>
          <p:cNvPr id="3" name="Untertitel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299668" y="4608000"/>
            <a:ext cx="8064000" cy="1440000"/>
          </a:xfrm>
        </p:spPr>
        <p:txBody>
          <a:bodyPr/>
          <a:lstStyle/>
          <a:p>
            <a:pPr>
              <a:defRPr/>
            </a:pPr>
            <a:r>
              <a:rPr lang="de-DE" sz="1400"/>
              <a:t>Aadithya Ramamurthy | Matrikel Nr. 3304090</a:t>
            </a:r>
            <a:endParaRPr/>
          </a:p>
          <a:p>
            <a:pPr>
              <a:defRPr/>
            </a:pPr>
            <a:r>
              <a:rPr lang="de-DE" sz="1400"/>
              <a:t>Amod Raut 	    | Matrikel Nr. 3297221</a:t>
            </a:r>
            <a:endParaRPr/>
          </a:p>
          <a:p>
            <a:pPr>
              <a:defRPr/>
            </a:pPr>
            <a:r>
              <a:rPr lang="de-DE" sz="1400"/>
              <a:t>Samir Elsafi 	    | Matrikel Nr. 3101566</a:t>
            </a:r>
            <a:endParaRPr/>
          </a:p>
          <a:p>
            <a:pPr>
              <a:defRPr/>
            </a:pPr>
            <a:endParaRPr lang="de-DE" sz="1400"/>
          </a:p>
          <a:p>
            <a:pPr>
              <a:defRPr/>
            </a:pPr>
            <a:endParaRPr lang="de-DE" sz="1400"/>
          </a:p>
          <a:p>
            <a:pPr>
              <a:defRPr/>
            </a:pPr>
            <a:r>
              <a:rPr lang="de-DE" sz="1400"/>
              <a:t>Date - 17.01.2022</a:t>
            </a:r>
            <a:endParaRPr/>
          </a:p>
        </p:txBody>
      </p:sp>
      <p:sp>
        <p:nvSpPr>
          <p:cNvPr id="4" name="Fußzeilenplatzhalter 3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>
                <a:solidFill>
                  <a:prstClr val="black"/>
                </a:solidFill>
              </a:rPr>
              <a:t>© FH AACHEN </a:t>
            </a:r>
            <a:r>
              <a:rPr lang="de-DE">
                <a:solidFill>
                  <a:prstClr val="black"/>
                </a:solidFill>
              </a:rPr>
              <a:t>UNIVERSITY OF APPLIED SCIENCES</a:t>
            </a:r>
            <a:endParaRPr/>
          </a:p>
        </p:txBody>
      </p:sp>
      <p:sp>
        <p:nvSpPr>
          <p:cNvPr id="5" name="Google Shape;72;p1" hidden="0"/>
          <p:cNvSpPr txBox="1"/>
          <p:nvPr isPhoto="0" userDrawn="0"/>
        </p:nvSpPr>
        <p:spPr bwMode="auto">
          <a:xfrm>
            <a:off x="-828600" y="395853"/>
            <a:ext cx="10687050" cy="4222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numCol="1" anchor="t" anchorCtr="0" compatLnSpc="1">
            <a:prstTxWarp prst="textNoShape"/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4800">
                <a:solidFill>
                  <a:schemeClr val="tx1"/>
                </a:solidFill>
                <a:latin typeface="Verdana"/>
                <a:ea typeface="+mj-ea"/>
                <a:cs typeface="+mj-cs"/>
              </a:defRPr>
            </a:lvl1pPr>
            <a:lvl2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2pPr>
            <a:lvl3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3pPr>
            <a:lvl4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4pPr>
            <a:lvl5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B1AC"/>
              </a:buClr>
              <a:buSzPts val="2400"/>
              <a:buFont typeface="Verdana"/>
              <a:buNone/>
              <a:defRPr/>
            </a:pPr>
            <a:r>
              <a:rPr lang="en-US" sz="2000">
                <a:solidFill>
                  <a:srgbClr val="00B1AC"/>
                </a:solidFill>
                <a:latin typeface="Verdana"/>
                <a:ea typeface="Verdana"/>
                <a:cs typeface="Verdana"/>
              </a:rPr>
              <a:t>Sensors And Actuators</a:t>
            </a:r>
            <a:endParaRPr lang="en-US"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4" name="Titel 6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7338" y="287338"/>
            <a:ext cx="8064500" cy="720724"/>
          </a:xfrm>
        </p:spPr>
        <p:txBody>
          <a:bodyPr/>
          <a:lstStyle/>
          <a:p>
            <a:pPr>
              <a:defRPr/>
            </a:pPr>
            <a:r>
              <a:rPr lang="de-DE"/>
              <a:t>Contents</a:t>
            </a:r>
            <a:endParaRPr/>
          </a:p>
        </p:txBody>
      </p:sp>
      <p:sp>
        <p:nvSpPr>
          <p:cNvPr id="8195" name="Inhaltsplatzhalter 7" hidden="0"/>
          <p:cNvSpPr>
            <a:spLocks noGrp="1"/>
          </p:cNvSpPr>
          <p:nvPr isPhoto="0" userDrawn="0">
            <p:ph idx="1" hasCustomPrompt="0"/>
          </p:nvPr>
        </p:nvSpPr>
        <p:spPr bwMode="auto">
          <a:xfrm flipH="0" flipV="0">
            <a:off x="366096" y="1729824"/>
            <a:ext cx="8064499" cy="3926858"/>
          </a:xfrm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Introduction</a:t>
            </a:r>
            <a:endParaRPr lang="en-US">
              <a:solidFill>
                <a:prstClr val="black"/>
              </a:solidFill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prstClr val="black"/>
                </a:solidFill>
                <a:latin typeface="Verdana"/>
                <a:ea typeface="Verdana"/>
                <a:cs typeface="Verdana"/>
              </a:rPr>
              <a:t>Main characteristic parameters</a:t>
            </a:r>
            <a:endParaRPr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Measurement Setup</a:t>
            </a:r>
            <a:endParaRPr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Measuring strategy</a:t>
            </a:r>
            <a:endParaRPr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State Flow Diagram</a:t>
            </a:r>
            <a:endParaRPr lang="en-US">
              <a:solidFill>
                <a:prstClr val="black"/>
              </a:solidFill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Front panel</a:t>
            </a:r>
            <a:endParaRPr lang="en-US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Block Diagram of VI</a:t>
            </a:r>
            <a:endParaRPr lang="en-US">
              <a:solidFill>
                <a:prstClr val="black"/>
              </a:solidFill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ADXRS 300 Results</a:t>
            </a:r>
            <a:endParaRPr lang="en-US">
              <a:solidFill>
                <a:prstClr val="black"/>
              </a:solidFill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Bosch SMG040 Results</a:t>
            </a:r>
            <a:endParaRPr lang="en-US">
              <a:solidFill>
                <a:prstClr val="black"/>
              </a:solidFill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>
                <a:solidFill>
                  <a:prstClr val="black"/>
                </a:solidFill>
              </a:rPr>
              <a:t>Conclusion</a:t>
            </a:r>
            <a:endParaRPr lang="en-US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IN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4" name="Titel 6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7338" y="287338"/>
            <a:ext cx="8064500" cy="720724"/>
          </a:xfrm>
        </p:spPr>
        <p:txBody>
          <a:bodyPr/>
          <a:lstStyle/>
          <a:p>
            <a:pPr>
              <a:defRPr/>
            </a:pPr>
            <a:r>
              <a:rPr lang="en-US" b="0" i="0">
                <a:solidFill>
                  <a:srgbClr val="080E14"/>
                </a:solidFill>
                <a:latin typeface="Proxima Nova"/>
              </a:rPr>
              <a:t>Introduction</a:t>
            </a:r>
            <a:endParaRPr lang="de-DE"/>
          </a:p>
        </p:txBody>
      </p:sp>
      <p:sp>
        <p:nvSpPr>
          <p:cNvPr id="8195" name="Inhaltsplatzhalter 7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287338" y="1196752"/>
            <a:ext cx="6372894" cy="5184576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800" b="1" u="sng">
                <a:solidFill>
                  <a:prstClr val="black"/>
                </a:solidFill>
              </a:rPr>
              <a:t>Angular Rate Sensor-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IN" sz="1800" b="1" u="sng">
              <a:solidFill>
                <a:prstClr val="black"/>
              </a:solidFill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IN" sz="1400">
                <a:solidFill>
                  <a:prstClr val="black"/>
                </a:solidFill>
              </a:rPr>
              <a:t>Angular Rate Sensors measure the rate of rotation of an object with respect to an inertial frame of reference(yaw, pitch, roll)</a:t>
            </a:r>
            <a:endParaRPr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</a:rPr>
              <a:t>They are very important components in active suspension systems and anti-skidding systems, like the ESP system for automobiles.</a:t>
            </a:r>
            <a:endParaRPr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400">
              <a:solidFill>
                <a:prstClr val="black"/>
              </a:solidFill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</a:rPr>
              <a:t>The ADXRS 300 is an angular rate sensor (gyroscope) that uses Analog Devices’ surface-micro-machining process</a:t>
            </a:r>
            <a:endParaRPr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</a:rPr>
              <a:t>ADXRS300 measures along the axis normal to the top surface. </a:t>
            </a:r>
            <a:endParaRPr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400">
              <a:solidFill>
                <a:prstClr val="black"/>
              </a:solidFill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40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prstClr val="black"/>
              </a:solidFill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</a:rPr>
              <a:t>The Robert Bosch Angular Rate Sensor SMG040 is the second generation of gyroscopes for rollover applications. The SMG040 is a micro-machined gyroscope for the detection of angular rates in car safety applications such as rollover control units. </a:t>
            </a:r>
            <a:endParaRPr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</a:rPr>
              <a:t>SMG040 sense along the axis shown in figure.</a:t>
            </a:r>
            <a:endParaRPr lang="en-IN" sz="1400">
              <a:solidFill>
                <a:prstClr val="black"/>
              </a:solidFill>
            </a:endParaRPr>
          </a:p>
        </p:txBody>
      </p:sp>
      <p:pic>
        <p:nvPicPr>
          <p:cNvPr id="3" name="Picture 2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6547905" y="1412776"/>
            <a:ext cx="1984535" cy="1330605"/>
          </a:xfrm>
          <a:prstGeom prst="rect">
            <a:avLst/>
          </a:prstGeom>
        </p:spPr>
      </p:pic>
      <p:pic>
        <p:nvPicPr>
          <p:cNvPr id="4" name="Picture 3" hidden="0"/>
          <p:cNvPicPr>
            <a:picLocks noChangeAspect="1"/>
          </p:cNvPicPr>
          <p:nvPr isPhoto="0" userDrawn="0"/>
        </p:nvPicPr>
        <p:blipFill>
          <a:blip r:embed="rId3"/>
          <a:stretch/>
        </p:blipFill>
        <p:spPr bwMode="auto">
          <a:xfrm>
            <a:off x="6681603" y="2743381"/>
            <a:ext cx="1440160" cy="1374152"/>
          </a:xfrm>
          <a:prstGeom prst="rect">
            <a:avLst/>
          </a:prstGeom>
        </p:spPr>
      </p:pic>
      <p:pic>
        <p:nvPicPr>
          <p:cNvPr id="6" name="Picture 5" hidden="0"/>
          <p:cNvPicPr>
            <a:picLocks noChangeAspect="1"/>
          </p:cNvPicPr>
          <p:nvPr isPhoto="0" userDrawn="0"/>
        </p:nvPicPr>
        <p:blipFill>
          <a:blip r:embed="rId4"/>
          <a:stretch/>
        </p:blipFill>
        <p:spPr bwMode="auto">
          <a:xfrm>
            <a:off x="6681603" y="4566108"/>
            <a:ext cx="1850837" cy="18429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Coriolis Force</a:t>
            </a:r>
            <a:endParaRPr/>
          </a:p>
        </p:txBody>
      </p:sp>
      <p:sp>
        <p:nvSpPr>
          <p:cNvPr id="6" name="TextBox 5" hidden="0"/>
          <p:cNvSpPr txBox="1"/>
          <p:nvPr isPhoto="0" userDrawn="0"/>
        </p:nvSpPr>
        <p:spPr bwMode="auto">
          <a:xfrm>
            <a:off x="395535" y="1515223"/>
            <a:ext cx="4825147" cy="3383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/>
              <a:t>The frame containing the resonating mass is tethered to the substrate by springs at 90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Coriolis sense fingers are used to sense displacement of the frame in response to the force exerted by the mass, capacitively.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As the rate of rotation increases, so does the displacement of the Mass, and the Signal derived from the corresponding capacitance change.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endParaRPr lang="en-IN"/>
          </a:p>
        </p:txBody>
      </p:sp>
      <p:pic>
        <p:nvPicPr>
          <p:cNvPr id="8" name="Picture 7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2915816" y="4328000"/>
            <a:ext cx="4247345" cy="2045596"/>
          </a:xfrm>
          <a:prstGeom prst="rect">
            <a:avLst/>
          </a:prstGeom>
        </p:spPr>
      </p:pic>
      <p:pic>
        <p:nvPicPr>
          <p:cNvPr id="13" name="Content Placeholder 710792205" hidden="0"/>
          <p:cNvPicPr>
            <a:picLocks noChangeAspect="1" noGrp="1"/>
          </p:cNvPicPr>
          <p:nvPr isPhoto="0" userDrawn="0">
            <p:ph idx="1" hasCustomPrompt="0"/>
          </p:nvPr>
        </p:nvPicPr>
        <p:blipFill>
          <a:blip r:embed="rId3"/>
          <a:srcRect l="4005" t="0" r="6135" b="0"/>
          <a:stretch/>
        </p:blipFill>
        <p:spPr bwMode="auto">
          <a:xfrm>
            <a:off x="5292080" y="1759818"/>
            <a:ext cx="3347952" cy="22522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Coriolis Force</a:t>
            </a:r>
            <a:endParaRPr/>
          </a:p>
        </p:txBody>
      </p:sp>
      <p:pic>
        <p:nvPicPr>
          <p:cNvPr id="2078823318" name="Content Placeholder 2078823317" hidden="0"/>
          <p:cNvPicPr>
            <a:picLocks noChangeAspect="1" noGrp="1"/>
          </p:cNvPicPr>
          <p:nvPr isPhoto="0" userDrawn="0">
            <p:ph sz="half" idx="10" hasCustomPrompt="0"/>
          </p:nvPr>
        </p:nvPicPr>
        <p:blipFill>
          <a:blip r:embed="rId2"/>
          <a:stretch/>
        </p:blipFill>
        <p:spPr bwMode="auto">
          <a:xfrm>
            <a:off x="5436096" y="1179961"/>
            <a:ext cx="2915902" cy="2715235"/>
          </a:xfrm>
          <a:prstGeom prst="rect">
            <a:avLst/>
          </a:prstGeom>
        </p:spPr>
      </p:pic>
      <p:pic>
        <p:nvPicPr>
          <p:cNvPr id="5" name="Inhaltsplatzhalter 2" hidden="0"/>
          <p:cNvPicPr>
            <a:picLocks noChangeAspect="1"/>
          </p:cNvPicPr>
          <p:nvPr isPhoto="0" userDrawn="0"/>
        </p:nvPicPr>
        <p:blipFill>
          <a:blip r:embed="rId3"/>
          <a:srcRect l="14431" t="8809" r="11191" b="13426"/>
          <a:stretch/>
        </p:blipFill>
        <p:spPr bwMode="auto">
          <a:xfrm>
            <a:off x="3707904" y="4074538"/>
            <a:ext cx="4824536" cy="21406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3" hidden="0"/>
          <p:cNvSpPr>
            <a:spLocks noGrp="1"/>
          </p:cNvSpPr>
          <p:nvPr isPhoto="0" userDrawn="0">
            <p:ph sz="half" idx="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1400"/>
              <a:t>The Coriolis force is calculated using –</a:t>
            </a:r>
            <a:endParaRPr/>
          </a:p>
          <a:p>
            <a:pPr>
              <a:defRPr/>
            </a:pPr>
            <a:endParaRPr lang="en-IN"/>
          </a:p>
        </p:txBody>
      </p:sp>
      <p:pic>
        <p:nvPicPr>
          <p:cNvPr id="7" name="Picture 6" hidden="0"/>
          <p:cNvPicPr>
            <a:picLocks noChangeAspect="1"/>
          </p:cNvPicPr>
          <p:nvPr isPhoto="0" userDrawn="0"/>
        </p:nvPicPr>
        <p:blipFill>
          <a:blip r:embed="rId4"/>
          <a:srcRect l="3056" t="0" r="0" b="8448"/>
          <a:stretch/>
        </p:blipFill>
        <p:spPr bwMode="auto">
          <a:xfrm>
            <a:off x="335150" y="1628800"/>
            <a:ext cx="3888000" cy="2808312"/>
          </a:xfrm>
          <a:prstGeom prst="rect">
            <a:avLst/>
          </a:prstGeom>
        </p:spPr>
      </p:pic>
      <p:sp>
        <p:nvSpPr>
          <p:cNvPr id="8" name="TextBox 7" hidden="0"/>
          <p:cNvSpPr txBox="1"/>
          <p:nvPr isPhoto="0" userDrawn="0"/>
        </p:nvSpPr>
        <p:spPr bwMode="auto">
          <a:xfrm>
            <a:off x="4000403" y="6115232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000"/>
              <a:t>Demonstration of Coriolis effect in response to the resonating silicon mass supported inside a frame. Orange arrow indicates the force applied.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16224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Rate Sensitive Axis</a:t>
            </a:r>
            <a:endParaRPr sz="2400">
              <a:latin typeface="Verdana"/>
              <a:ea typeface="Verdana"/>
              <a:cs typeface="Verdana"/>
            </a:endParaRPr>
          </a:p>
        </p:txBody>
      </p:sp>
      <p:sp>
        <p:nvSpPr>
          <p:cNvPr id="1295943761" name=" 2029114042" hidden="0"/>
          <p:cNvSpPr/>
          <p:nvPr isPhoto="0" userDrawn="0"/>
        </p:nvSpPr>
        <p:spPr bwMode="auto">
          <a:xfrm>
            <a:off x="3520491" y="3468804"/>
            <a:ext cx="1314543" cy="347193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/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4048198" name="" hidden="0"/>
          <p:cNvSpPr/>
          <p:nvPr isPhoto="0" userDrawn="0"/>
        </p:nvSpPr>
        <p:spPr bwMode="auto">
          <a:xfrm>
            <a:off x="9144034" y="5236643"/>
            <a:ext cx="254916" cy="365794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1263959034" name="" hidden="0"/>
          <p:cNvSpPr txBox="1"/>
          <p:nvPr isPhoto="0" userDrawn="0"/>
        </p:nvSpPr>
        <p:spPr bwMode="auto">
          <a:xfrm flipH="0" flipV="0">
            <a:off x="5456207" y="4483481"/>
            <a:ext cx="2348256" cy="365794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394464853" name="" hidden="0"/>
          <p:cNvSpPr/>
          <p:nvPr isPhoto="0" userDrawn="0"/>
        </p:nvSpPr>
        <p:spPr bwMode="auto">
          <a:xfrm>
            <a:off x="8378384" y="6421482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458690492" name="" hidden="0"/>
          <p:cNvSpPr txBox="1"/>
          <p:nvPr isPhoto="0" userDrawn="0"/>
        </p:nvSpPr>
        <p:spPr bwMode="auto">
          <a:xfrm flipH="0" flipV="0">
            <a:off x="467394" y="1404350"/>
            <a:ext cx="3237382" cy="42675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ADXRS300</a:t>
            </a:r>
            <a:endParaRPr sz="2200"/>
          </a:p>
        </p:txBody>
      </p:sp>
      <p:sp>
        <p:nvSpPr>
          <p:cNvPr id="282608725" name="" hidden="0"/>
          <p:cNvSpPr txBox="1"/>
          <p:nvPr isPhoto="0" userDrawn="0"/>
        </p:nvSpPr>
        <p:spPr bwMode="auto">
          <a:xfrm flipH="0" flipV="0">
            <a:off x="287999" y="2031351"/>
            <a:ext cx="3500023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34138051" name="" hidden="0"/>
          <p:cNvSpPr/>
          <p:nvPr isPhoto="0" userDrawn="0"/>
        </p:nvSpPr>
        <p:spPr bwMode="auto">
          <a:xfrm flipH="0" flipV="0">
            <a:off x="5026205" y="5096733"/>
            <a:ext cx="229148" cy="279820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noAutofit/>
          </a:bodyPr>
          <a:p>
            <a:pPr>
              <a:defRPr/>
            </a:pPr>
            <a:endParaRPr/>
          </a:p>
        </p:txBody>
      </p:sp>
      <p:pic>
        <p:nvPicPr>
          <p:cNvPr id="211335251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581644" y="1890298"/>
            <a:ext cx="7192235" cy="1524069"/>
          </a:xfrm>
          <a:prstGeom prst="rect">
            <a:avLst/>
          </a:prstGeom>
        </p:spPr>
      </p:pic>
      <p:sp>
        <p:nvSpPr>
          <p:cNvPr id="1541303761" name="" hidden="0"/>
          <p:cNvSpPr/>
          <p:nvPr isPhoto="0" userDrawn="0"/>
        </p:nvSpPr>
        <p:spPr bwMode="auto">
          <a:xfrm>
            <a:off x="7238208" y="6847364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1712878463" name="" hidden="0"/>
          <p:cNvPicPr>
            <a:picLocks noChangeAspect="1"/>
          </p:cNvPicPr>
          <p:nvPr isPhoto="0" userDrawn="0"/>
        </p:nvPicPr>
        <p:blipFill>
          <a:blip r:embed="rId3"/>
          <a:stretch/>
        </p:blipFill>
        <p:spPr bwMode="auto">
          <a:xfrm>
            <a:off x="3089580" y="3414367"/>
            <a:ext cx="2895598" cy="2819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518894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Rate Sensitive Axis</a:t>
            </a:r>
            <a:endParaRPr sz="2400">
              <a:latin typeface="Verdana"/>
              <a:ea typeface="Verdana"/>
              <a:cs typeface="Verdana"/>
            </a:endParaRPr>
          </a:p>
        </p:txBody>
      </p:sp>
      <p:sp>
        <p:nvSpPr>
          <p:cNvPr id="1560870315" name=" 2029114042" hidden="0"/>
          <p:cNvSpPr/>
          <p:nvPr isPhoto="0" userDrawn="0"/>
        </p:nvSpPr>
        <p:spPr bwMode="auto">
          <a:xfrm>
            <a:off x="3520491" y="3468804"/>
            <a:ext cx="1314543" cy="347193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/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7592673" name="" hidden="0"/>
          <p:cNvSpPr/>
          <p:nvPr isPhoto="0" userDrawn="0"/>
        </p:nvSpPr>
        <p:spPr bwMode="auto">
          <a:xfrm>
            <a:off x="9144034" y="5236643"/>
            <a:ext cx="254916" cy="365794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875253247" name="" hidden="0"/>
          <p:cNvSpPr txBox="1"/>
          <p:nvPr isPhoto="0" userDrawn="0"/>
        </p:nvSpPr>
        <p:spPr bwMode="auto">
          <a:xfrm flipH="0" flipV="0">
            <a:off x="5456207" y="4483481"/>
            <a:ext cx="2348256" cy="365794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047785857" name="" hidden="0"/>
          <p:cNvSpPr/>
          <p:nvPr isPhoto="0" userDrawn="0"/>
        </p:nvSpPr>
        <p:spPr bwMode="auto">
          <a:xfrm>
            <a:off x="8378384" y="6421482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1968377102" name="" hidden="0"/>
          <p:cNvSpPr txBox="1"/>
          <p:nvPr isPhoto="0" userDrawn="0"/>
        </p:nvSpPr>
        <p:spPr bwMode="auto">
          <a:xfrm flipH="0" flipV="0">
            <a:off x="467394" y="1404350"/>
            <a:ext cx="3237455" cy="42675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Bosch SMG040</a:t>
            </a:r>
            <a:endParaRPr sz="2200"/>
          </a:p>
        </p:txBody>
      </p:sp>
      <p:sp>
        <p:nvSpPr>
          <p:cNvPr id="6969024" name="" hidden="0"/>
          <p:cNvSpPr txBox="1"/>
          <p:nvPr isPhoto="0" userDrawn="0"/>
        </p:nvSpPr>
        <p:spPr bwMode="auto">
          <a:xfrm flipH="0" flipV="0">
            <a:off x="673646" y="1477346"/>
            <a:ext cx="3237347" cy="42675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2200"/>
          </a:p>
        </p:txBody>
      </p:sp>
      <p:sp>
        <p:nvSpPr>
          <p:cNvPr id="1021986905" name="" hidden="0"/>
          <p:cNvSpPr txBox="1"/>
          <p:nvPr isPhoto="0" userDrawn="0"/>
        </p:nvSpPr>
        <p:spPr bwMode="auto">
          <a:xfrm flipH="0" flipV="0">
            <a:off x="608739" y="3002285"/>
            <a:ext cx="3502255" cy="64011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Target Application: Roll over sensing (250 °/s)</a:t>
            </a:r>
            <a:endParaRPr/>
          </a:p>
        </p:txBody>
      </p:sp>
      <p:pic>
        <p:nvPicPr>
          <p:cNvPr id="116634782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4177763" y="1544493"/>
            <a:ext cx="3894114" cy="4057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74796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Main characteristic parameters</a:t>
            </a:r>
            <a:endParaRPr/>
          </a:p>
        </p:txBody>
      </p:sp>
      <p:sp>
        <p:nvSpPr>
          <p:cNvPr id="1742722458" name="Inhaltsplatzhalter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288000" y="1295998"/>
            <a:ext cx="8064000" cy="504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Verdana"/>
              </a:defRPr>
            </a:lvl1pPr>
            <a:lvl2pPr marL="0" indent="0">
              <a:spcBef>
                <a:spcPts val="1999"/>
              </a:spcBef>
              <a:buNone/>
              <a:defRPr sz="2400">
                <a:solidFill>
                  <a:schemeClr val="tx1"/>
                </a:solidFill>
                <a:latin typeface="Verdana"/>
              </a:defRPr>
            </a:lvl2pPr>
            <a:lvl3pPr marL="723899" indent="-368299">
              <a:buFont typeface="Verdana"/>
              <a:buChar char="&gt;"/>
              <a:defRPr>
                <a:solidFill>
                  <a:schemeClr val="tx1"/>
                </a:solidFill>
                <a:latin typeface="Verdana"/>
              </a:defRPr>
            </a:lvl3pPr>
            <a:lvl4pPr marL="0" indent="0">
              <a:spcBef>
                <a:spcPts val="1599"/>
              </a:spcBef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4pPr>
            <a:lvl5pPr marL="723899" indent="-368299">
              <a:buFont typeface="Verdana"/>
              <a:buChar char="&gt;"/>
              <a:defRPr sz="1600">
                <a:solidFill>
                  <a:schemeClr val="tx1"/>
                </a:solidFill>
                <a:latin typeface="Verdana"/>
              </a:defRPr>
            </a:lvl5pPr>
          </a:lstStyle>
          <a:p>
            <a:pPr marL="349965" indent="-349965"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Range of operation </a:t>
            </a:r>
            <a:endParaRPr lang="de-DE" sz="24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/>
              <a:t>Zero Value voltage </a:t>
            </a:r>
            <a:endParaRPr/>
          </a:p>
          <a:p>
            <a:pPr marL="349965" indent="-349965"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Sensor sensitivity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969301563" name=" 1969301562" hidden="0"/>
          <p:cNvSpPr/>
          <p:nvPr isPhoto="0" userDrawn="0"/>
        </p:nvSpPr>
        <p:spPr bwMode="auto">
          <a:xfrm>
            <a:off x="3520492" y="3468805"/>
            <a:ext cx="1314544" cy="347193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/>
            <a:noAutofit/>
          </a:bodyPr>
          <a:lstStyle/>
          <a:p>
            <a:pPr>
              <a:defRPr/>
            </a:pPr>
            <a:endParaRPr/>
          </a:p>
        </p:txBody>
      </p:sp>
      <p:pic>
        <p:nvPicPr>
          <p:cNvPr id="522425154" name="Picture 522425153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1763370" y="2549964"/>
            <a:ext cx="4501023" cy="1712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003044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Measurement Setup</a:t>
            </a:r>
            <a:endParaRPr/>
          </a:p>
        </p:txBody>
      </p:sp>
      <p:sp>
        <p:nvSpPr>
          <p:cNvPr id="2029114043" name=" 2029114042" hidden="0"/>
          <p:cNvSpPr/>
          <p:nvPr isPhoto="0" userDrawn="0"/>
        </p:nvSpPr>
        <p:spPr bwMode="auto">
          <a:xfrm>
            <a:off x="3520492" y="3468805"/>
            <a:ext cx="1314544" cy="347193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/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5235206" name="Inhaltsplatzhalter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288000" y="1296000"/>
            <a:ext cx="3888000" cy="5040000"/>
          </a:xfrm>
        </p:spPr>
        <p:txBody>
          <a:bodyPr/>
          <a:lstStyle>
            <a:lvl1pPr>
              <a:defRPr sz="2400"/>
            </a:lvl1pPr>
            <a:lvl2pPr marL="0" indent="12699">
              <a:spcBef>
                <a:spcPts val="1999"/>
              </a:spcBef>
              <a:defRPr sz="2400"/>
            </a:lvl2pPr>
            <a:lvl3pPr>
              <a:defRPr sz="2400"/>
            </a:lvl3pPr>
            <a:lvl4pPr marL="0" indent="0"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For ADXRS300, we use the mounting shown in the figure. We have used 5mm spacers for isolating the sensor terminals.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For Bosch SMG040 we mount it vertically as the sensitive axis is horizontal to the </a:t>
            </a:r>
            <a:r>
              <a:rPr/>
              <a:t>chip.</a:t>
            </a:r>
            <a:endParaRPr/>
          </a:p>
        </p:txBody>
      </p:sp>
      <p:sp>
        <p:nvSpPr>
          <p:cNvPr id="123235680" name="" hidden="0"/>
          <p:cNvSpPr/>
          <p:nvPr isPhoto="0" userDrawn="0"/>
        </p:nvSpPr>
        <p:spPr bwMode="auto">
          <a:xfrm>
            <a:off x="9144035" y="5236644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50393059" name="" hidden="0"/>
          <p:cNvSpPr txBox="1"/>
          <p:nvPr isPhoto="0" userDrawn="0"/>
        </p:nvSpPr>
        <p:spPr bwMode="auto">
          <a:xfrm flipH="0" flipV="0">
            <a:off x="5456208" y="4483482"/>
            <a:ext cx="2348257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321484222" name="" hidden="0"/>
          <p:cNvPicPr>
            <a:picLocks noChangeAspect="1"/>
          </p:cNvPicPr>
          <p:nvPr isPhoto="0" userDrawn="0"/>
        </p:nvPicPr>
        <p:blipFill>
          <a:blip r:embed="rId2"/>
          <a:srcRect l="14597" t="9468" r="30733" b="44678"/>
          <a:stretch/>
        </p:blipFill>
        <p:spPr bwMode="auto">
          <a:xfrm flipH="0" flipV="0">
            <a:off x="5432126" y="1174583"/>
            <a:ext cx="2772201" cy="2367608"/>
          </a:xfrm>
          <a:prstGeom prst="rect">
            <a:avLst/>
          </a:prstGeom>
        </p:spPr>
      </p:pic>
      <p:pic>
        <p:nvPicPr>
          <p:cNvPr id="972394200" name="" hidden="0"/>
          <p:cNvPicPr>
            <a:picLocks noChangeAspect="1"/>
          </p:cNvPicPr>
          <p:nvPr isPhoto="0" userDrawn="0"/>
        </p:nvPicPr>
        <p:blipFill>
          <a:blip r:embed="rId3"/>
          <a:srcRect l="9686" t="38094" r="31339" b="15061"/>
          <a:stretch/>
        </p:blipFill>
        <p:spPr bwMode="auto">
          <a:xfrm flipH="0" flipV="0">
            <a:off x="5346828" y="3642401"/>
            <a:ext cx="2942798" cy="2669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375219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Measurement Setup</a:t>
            </a:r>
            <a:endParaRPr/>
          </a:p>
        </p:txBody>
      </p:sp>
      <p:sp>
        <p:nvSpPr>
          <p:cNvPr id="700235939" name=" 2029114042" hidden="0"/>
          <p:cNvSpPr/>
          <p:nvPr isPhoto="0" userDrawn="0"/>
        </p:nvSpPr>
        <p:spPr bwMode="auto">
          <a:xfrm>
            <a:off x="3520491" y="3468804"/>
            <a:ext cx="1314543" cy="347193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/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2184258" name="" hidden="0"/>
          <p:cNvSpPr/>
          <p:nvPr isPhoto="0" userDrawn="0"/>
        </p:nvSpPr>
        <p:spPr bwMode="auto">
          <a:xfrm>
            <a:off x="9144034" y="5236643"/>
            <a:ext cx="254916" cy="365794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1459774189" name="" hidden="0"/>
          <p:cNvSpPr txBox="1"/>
          <p:nvPr isPhoto="0" userDrawn="0"/>
        </p:nvSpPr>
        <p:spPr bwMode="auto">
          <a:xfrm flipH="0" flipV="0">
            <a:off x="5456207" y="4483481"/>
            <a:ext cx="2348256" cy="365794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783054293" name="" hidden="0"/>
          <p:cNvPicPr>
            <a:picLocks noChangeAspect="1"/>
          </p:cNvPicPr>
          <p:nvPr isPhoto="0" userDrawn="0"/>
        </p:nvPicPr>
        <p:blipFill>
          <a:blip r:embed="rId2"/>
          <a:srcRect l="16486" t="30045" r="7194" b="6745"/>
          <a:stretch/>
        </p:blipFill>
        <p:spPr bwMode="auto">
          <a:xfrm flipH="0" flipV="0">
            <a:off x="4411029" y="1296000"/>
            <a:ext cx="4006955" cy="2488999"/>
          </a:xfrm>
          <a:prstGeom prst="rect">
            <a:avLst/>
          </a:prstGeom>
        </p:spPr>
      </p:pic>
      <p:pic>
        <p:nvPicPr>
          <p:cNvPr id="1386602241" name="" hidden="0"/>
          <p:cNvPicPr>
            <a:picLocks noChangeAspect="1"/>
          </p:cNvPicPr>
          <p:nvPr isPhoto="0" userDrawn="0"/>
        </p:nvPicPr>
        <p:blipFill>
          <a:blip r:embed="rId3"/>
          <a:srcRect l="0" t="39540" r="6593" b="18688"/>
          <a:stretch/>
        </p:blipFill>
        <p:spPr bwMode="auto">
          <a:xfrm flipH="0" flipV="0">
            <a:off x="4411029" y="3928102"/>
            <a:ext cx="4007567" cy="2389497"/>
          </a:xfrm>
          <a:prstGeom prst="rect">
            <a:avLst/>
          </a:prstGeom>
        </p:spPr>
      </p:pic>
      <p:sp>
        <p:nvSpPr>
          <p:cNvPr id="657152186" name="" hidden="0"/>
          <p:cNvSpPr/>
          <p:nvPr isPhoto="0" userDrawn="0"/>
        </p:nvSpPr>
        <p:spPr bwMode="auto">
          <a:xfrm>
            <a:off x="8378384" y="6421482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1070639270" name="" hidden="0"/>
          <p:cNvPicPr>
            <a:picLocks noChangeAspect="1"/>
          </p:cNvPicPr>
          <p:nvPr isPhoto="0" userDrawn="0"/>
        </p:nvPicPr>
        <p:blipFill>
          <a:blip r:embed="rId4"/>
          <a:srcRect l="19361" t="7544" r="5775" b="0"/>
          <a:stretch/>
        </p:blipFill>
        <p:spPr bwMode="auto">
          <a:xfrm flipH="0" flipV="0">
            <a:off x="229683" y="4853509"/>
            <a:ext cx="4027398" cy="1132063"/>
          </a:xfrm>
          <a:prstGeom prst="rect">
            <a:avLst/>
          </a:prstGeom>
        </p:spPr>
      </p:pic>
      <p:sp>
        <p:nvSpPr>
          <p:cNvPr id="202696282" name="" hidden="0"/>
          <p:cNvSpPr txBox="1"/>
          <p:nvPr isPhoto="0" userDrawn="0"/>
        </p:nvSpPr>
        <p:spPr bwMode="auto">
          <a:xfrm flipH="0" flipV="0">
            <a:off x="229683" y="3985622"/>
            <a:ext cx="3236663" cy="42675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Bosch SMG040</a:t>
            </a:r>
            <a:endParaRPr sz="2200"/>
          </a:p>
        </p:txBody>
      </p:sp>
      <p:sp>
        <p:nvSpPr>
          <p:cNvPr id="1991376366" name="" hidden="0"/>
          <p:cNvSpPr txBox="1"/>
          <p:nvPr isPhoto="0" userDrawn="0"/>
        </p:nvSpPr>
        <p:spPr bwMode="auto">
          <a:xfrm flipH="0" flipV="0">
            <a:off x="288000" y="1547424"/>
            <a:ext cx="3237023" cy="42675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ADXRS 300</a:t>
            </a:r>
            <a:endParaRPr sz="2200"/>
          </a:p>
        </p:txBody>
      </p:sp>
      <p:sp>
        <p:nvSpPr>
          <p:cNvPr id="327811430" name="" hidden="0"/>
          <p:cNvSpPr/>
          <p:nvPr isPhoto="0" userDrawn="0"/>
        </p:nvSpPr>
        <p:spPr bwMode="auto">
          <a:xfrm>
            <a:off x="4645539" y="5488421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1164668227" name="" hidden="0"/>
          <p:cNvPicPr>
            <a:picLocks noChangeAspect="1"/>
          </p:cNvPicPr>
          <p:nvPr isPhoto="0" userDrawn="0"/>
        </p:nvPicPr>
        <p:blipFill>
          <a:blip r:embed="rId5"/>
          <a:srcRect l="0" t="0" r="32854" b="0"/>
          <a:stretch/>
        </p:blipFill>
        <p:spPr bwMode="auto">
          <a:xfrm flipH="0" flipV="0">
            <a:off x="317169" y="2246323"/>
            <a:ext cx="3544544" cy="1445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528936" name="Inhaltsplatzhalter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 flipH="0" flipV="0">
            <a:off x="288000" y="1296000"/>
            <a:ext cx="8100826" cy="5040000"/>
          </a:xfrm>
        </p:spPr>
        <p:txBody>
          <a:bodyPr/>
          <a:lstStyle>
            <a:lvl1pPr>
              <a:defRPr sz="2400"/>
            </a:lvl1pPr>
            <a:lvl2pPr marL="0" indent="12699">
              <a:spcBef>
                <a:spcPts val="1999"/>
              </a:spcBef>
              <a:defRPr sz="2400"/>
            </a:lvl2pPr>
            <a:lvl3pPr>
              <a:defRPr sz="2400"/>
            </a:lvl3pPr>
            <a:lvl4pPr marL="0" indent="0"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9965" indent="-349965">
              <a:buFont typeface="Arial"/>
              <a:buChar char="•"/>
              <a:defRPr/>
            </a:pPr>
            <a:r>
              <a:rPr/>
              <a:t>Rotate the turn table via LabView:</a:t>
            </a:r>
            <a:endParaRPr/>
          </a:p>
          <a:p>
            <a:pPr marL="750015" lvl="1" indent="-349965">
              <a:buFont typeface="Arial"/>
              <a:buChar char="•"/>
              <a:defRPr/>
            </a:pPr>
            <a:r>
              <a:rPr sz="1600"/>
              <a:t>Rotate by:</a:t>
            </a:r>
            <a:endParaRPr sz="1600"/>
          </a:p>
          <a:p>
            <a:pPr marL="1061950" lvl="2" indent="-261850">
              <a:buFont typeface="Arial"/>
              <a:buAutoNum type="arabicPeriod"/>
              <a:defRPr/>
            </a:pPr>
            <a:r>
              <a:rPr sz="1600"/>
              <a:t>A certain number of turns.</a:t>
            </a:r>
            <a:endParaRPr sz="1600"/>
          </a:p>
          <a:p>
            <a:pPr marL="1061950" lvl="2" indent="-261850">
              <a:buFont typeface="Arial"/>
              <a:buAutoNum type="arabicPeriod"/>
              <a:defRPr/>
            </a:pPr>
            <a:r>
              <a:rPr sz="1600"/>
              <a:t>At a certain speed, specified in LabView giving input - dValue </a:t>
            </a:r>
            <a:endParaRPr sz="1600"/>
          </a:p>
          <a:p>
            <a:pPr marL="800100" lvl="2" indent="0">
              <a:buFont typeface="Arial"/>
              <a:buNone/>
              <a:defRPr/>
            </a:pPr>
            <a:r>
              <a:rPr sz="1600"/>
              <a:t>	  </a:t>
            </a:r>
            <a:endParaRPr sz="1600"/>
          </a:p>
          <a:p>
            <a:pPr marL="800100" lvl="2" indent="0">
              <a:buFont typeface="Arial"/>
              <a:buNone/>
              <a:defRPr/>
            </a:pPr>
            <a:r>
              <a:rPr sz="1600"/>
              <a:t>dValue in </a:t>
            </a:r>
            <a:r>
              <a:rPr sz="16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≈</a:t>
            </a:r>
            <a:r>
              <a:rPr sz="1600"/>
              <a:t> Angular Rate / 7,06</a:t>
            </a:r>
            <a:endParaRPr sz="1600"/>
          </a:p>
          <a:p>
            <a:pPr marL="800100" lvl="2" indent="0">
              <a:buFont typeface="Arial"/>
              <a:buNone/>
              <a:defRPr/>
            </a:pPr>
            <a:endParaRPr sz="1600"/>
          </a:p>
          <a:p>
            <a:pPr marL="800100" lvl="2" indent="0">
              <a:buFont typeface="Arial"/>
              <a:buNone/>
              <a:defRPr/>
            </a:pPr>
            <a:endParaRPr sz="1600"/>
          </a:p>
          <a:p>
            <a:pPr marL="349965" lvl="0" indent="-349965" algn="l">
              <a:buFont typeface="Arial"/>
              <a:buChar char="•"/>
              <a:defRPr/>
            </a:pPr>
            <a:r>
              <a:rPr sz="2400"/>
              <a:t>Read out Voltage of the sensors.</a:t>
            </a:r>
            <a:endParaRPr sz="2400"/>
          </a:p>
          <a:p>
            <a:pPr marL="349965" lvl="0" indent="-349965" algn="l">
              <a:buFont typeface="Arial"/>
              <a:buChar char="•"/>
              <a:defRPr/>
            </a:pPr>
            <a:endParaRPr sz="2400"/>
          </a:p>
          <a:p>
            <a:pPr marL="349965" lvl="0" indent="-349965" algn="l">
              <a:buFont typeface="Arial"/>
              <a:buChar char="•"/>
              <a:defRPr/>
            </a:pPr>
            <a:r>
              <a:rPr sz="2400"/>
              <a:t>Calculate Angular Velocity of the Turn table.</a:t>
            </a:r>
            <a:endParaRPr sz="2400"/>
          </a:p>
          <a:p>
            <a:pPr marL="349965" lvl="0" indent="-349965" algn="l">
              <a:buFont typeface="Arial"/>
              <a:buChar char="•"/>
              <a:defRPr/>
            </a:pPr>
            <a:endParaRPr sz="2400"/>
          </a:p>
          <a:p>
            <a:pPr marL="349965" lvl="0" indent="-349965" algn="l">
              <a:buFont typeface="Arial"/>
              <a:buChar char="•"/>
              <a:defRPr/>
            </a:pPr>
            <a:r>
              <a:rPr sz="2400"/>
              <a:t>Calculate Sensitivity of the sensor.</a:t>
            </a:r>
            <a:endParaRPr sz="2400"/>
          </a:p>
          <a:p>
            <a:pPr marL="349965" lvl="0" indent="-349965" algn="l">
              <a:buFont typeface="Arial"/>
              <a:buChar char="•"/>
              <a:defRPr/>
            </a:pPr>
            <a:endParaRPr sz="2400"/>
          </a:p>
        </p:txBody>
      </p:sp>
      <p:sp>
        <p:nvSpPr>
          <p:cNvPr id="915477705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/>
              <a:t>Measurement Strategy</a:t>
            </a: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820879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/>
              <a:t>Expected Results </a:t>
            </a:r>
            <a:endParaRPr/>
          </a:p>
        </p:txBody>
      </p:sp>
      <p:sp>
        <p:nvSpPr>
          <p:cNvPr id="734670884" name="Inhaltsplatzhalter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288000" y="1295997"/>
            <a:ext cx="8064000" cy="504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Verdana"/>
              </a:defRPr>
            </a:lvl1pPr>
            <a:lvl2pPr marL="0" indent="0">
              <a:spcBef>
                <a:spcPts val="1999"/>
              </a:spcBef>
              <a:buNone/>
              <a:defRPr sz="2400">
                <a:solidFill>
                  <a:schemeClr val="tx1"/>
                </a:solidFill>
                <a:latin typeface="Verdana"/>
              </a:defRPr>
            </a:lvl2pPr>
            <a:lvl3pPr marL="723899" indent="-368299">
              <a:buFont typeface="Verdana"/>
              <a:buChar char="&gt;"/>
              <a:defRPr>
                <a:solidFill>
                  <a:schemeClr val="tx1"/>
                </a:solidFill>
                <a:latin typeface="Verdana"/>
              </a:defRPr>
            </a:lvl3pPr>
            <a:lvl4pPr marL="0" indent="0">
              <a:spcBef>
                <a:spcPts val="1599"/>
              </a:spcBef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4pPr>
            <a:lvl5pPr marL="723899" indent="-368299">
              <a:buFont typeface="Verdana"/>
              <a:buChar char="&gt;"/>
              <a:defRPr sz="1600">
                <a:solidFill>
                  <a:schemeClr val="tx1"/>
                </a:solidFill>
                <a:latin typeface="Verdana"/>
              </a:defRPr>
            </a:lvl5pPr>
          </a:lstStyle>
          <a:p>
            <a:pPr>
              <a:defRPr/>
            </a:pPr>
            <a:r>
              <a:rPr/>
              <a:t>Output voltage vs Angular rate</a:t>
            </a:r>
            <a:endParaRPr/>
          </a:p>
        </p:txBody>
      </p:sp>
      <p:sp>
        <p:nvSpPr>
          <p:cNvPr id="516851637" name="" hidden="0"/>
          <p:cNvSpPr/>
          <p:nvPr isPhoto="0" userDrawn="0"/>
        </p:nvSpPr>
        <p:spPr bwMode="auto">
          <a:xfrm flipH="0" flipV="0">
            <a:off x="7108050" y="5117964"/>
            <a:ext cx="357930" cy="53538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noAutofit/>
          </a:bodyPr>
          <a:p>
            <a:pPr>
              <a:defRPr/>
            </a:pPr>
            <a:endParaRPr/>
          </a:p>
        </p:txBody>
      </p:sp>
      <p:pic>
        <p:nvPicPr>
          <p:cNvPr id="934808713" name="" hidden="0"/>
          <p:cNvPicPr>
            <a:picLocks noChangeAspect="1"/>
          </p:cNvPicPr>
          <p:nvPr isPhoto="0" userDrawn="0"/>
        </p:nvPicPr>
        <p:blipFill>
          <a:blip r:embed="rId2"/>
          <a:srcRect l="3560" t="0" r="0" b="0"/>
          <a:stretch/>
        </p:blipFill>
        <p:spPr bwMode="auto">
          <a:xfrm flipH="0" flipV="0">
            <a:off x="2625262" y="1993230"/>
            <a:ext cx="4396393" cy="3304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497611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State Flow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Diagram</a:t>
            </a:r>
            <a:endParaRPr/>
          </a:p>
        </p:txBody>
      </p:sp>
      <p:sp>
        <p:nvSpPr>
          <p:cNvPr id="812144313" name="" hidden="0"/>
          <p:cNvSpPr/>
          <p:nvPr isPhoto="0" userDrawn="0"/>
        </p:nvSpPr>
        <p:spPr bwMode="auto">
          <a:xfrm flipH="0" flipV="0">
            <a:off x="7108049" y="5117963"/>
            <a:ext cx="357930" cy="535384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noAutofit/>
          </a:bodyPr>
          <a:p>
            <a:pPr>
              <a:defRPr/>
            </a:pPr>
            <a:endParaRPr/>
          </a:p>
        </p:txBody>
      </p:sp>
      <p:pic>
        <p:nvPicPr>
          <p:cNvPr id="1548417222" name="" hidden="0"/>
          <p:cNvPicPr>
            <a:picLocks noChangeAspect="1"/>
          </p:cNvPicPr>
          <p:nvPr isPhoto="0" userDrawn="0"/>
        </p:nvPicPr>
        <p:blipFill>
          <a:blip r:embed="rId2"/>
          <a:srcRect l="3337" t="2194" r="-138" b="2194"/>
          <a:stretch/>
        </p:blipFill>
        <p:spPr bwMode="auto">
          <a:xfrm flipH="0" flipV="0">
            <a:off x="1703606" y="1251151"/>
            <a:ext cx="5583408" cy="52133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491552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/>
              <a:t>Front panel</a:t>
            </a:r>
            <a:endParaRPr/>
          </a:p>
        </p:txBody>
      </p:sp>
      <p:pic>
        <p:nvPicPr>
          <p:cNvPr id="96721153" name="Inhaltsplatzhalter 3" hidden="0"/>
          <p:cNvPicPr>
            <a:picLocks noChangeAspect="1" noGrp="1"/>
          </p:cNvPicPr>
          <p:nvPr isPhoto="0" userDrawn="0"/>
        </p:nvPicPr>
        <p:blipFill>
          <a:blip r:embed="rId2"/>
          <a:srcRect l="3030" t="3848" r="2938" b="4263"/>
          <a:stretch/>
        </p:blipFill>
        <p:spPr bwMode="auto">
          <a:xfrm>
            <a:off x="137795" y="1295996"/>
            <a:ext cx="8867774" cy="4927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519354" name="Titel 1" hidden="0"/>
          <p:cNvSpPr>
            <a:spLocks noGrp="1"/>
          </p:cNvSpPr>
          <p:nvPr isPhoto="0" userDrawn="0"/>
        </p:nvSpPr>
        <p:spPr bwMode="auto">
          <a:xfrm>
            <a:off x="287999" y="365124"/>
            <a:ext cx="7753349" cy="549274"/>
          </a:xfrm>
        </p:spPr>
        <p:txBody>
          <a:bodyPr vert="horz" wrap="square" lIns="0" tIns="0" rIns="0" bIns="0" numCol="1" anchor="t" anchorCtr="0" compatLnSpc="1">
            <a:prstTxWarp prst="textNoShape"/>
            <a:normAutofit fontScale="90000"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2pPr>
            <a:lvl3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3pPr>
            <a:lvl4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4pPr>
            <a:lvl5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defRPr/>
            </a:pPr>
            <a:r>
              <a:rPr lang="de-DE"/>
              <a:t>Block </a:t>
            </a:r>
            <a:r>
              <a:rPr lang="de-DE"/>
              <a:t>Diagram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VI</a:t>
            </a:r>
            <a:endParaRPr lang="de-DE"/>
          </a:p>
        </p:txBody>
      </p:sp>
      <p:pic>
        <p:nvPicPr>
          <p:cNvPr id="2128943702" name="Inhaltsplatzhalter 3" hidden="0"/>
          <p:cNvPicPr>
            <a:picLocks noChangeAspect="1" noGrp="1"/>
          </p:cNvPicPr>
          <p:nvPr isPhoto="0" userDrawn="0">
            <p:ph idx="1" hasCustomPrompt="0"/>
          </p:nvPr>
        </p:nvPicPr>
        <p:blipFill>
          <a:blip r:embed="rId2"/>
          <a:srcRect l="597" t="2251" r="0" b="5218"/>
          <a:stretch/>
        </p:blipFill>
        <p:spPr bwMode="auto">
          <a:xfrm flipH="0" flipV="0">
            <a:off x="287998" y="914397"/>
            <a:ext cx="8260706" cy="5178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653583" name="Fußzeilenplatzhalter 4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287337" y="6551613"/>
            <a:ext cx="8064499" cy="215898"/>
          </a:xfr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>
                <a:solidFill>
                  <a:prstClr val="black"/>
                </a:solidFill>
              </a:rPr>
              <a:t>© FH AACHEN </a:t>
            </a:r>
            <a:r>
              <a:rPr lang="de-DE">
                <a:solidFill>
                  <a:prstClr val="black"/>
                </a:solidFill>
              </a:rPr>
              <a:t>UNIVERSITY OF APPLIED SCIENCES  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1917081936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7337" y="404632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ADXRS 300</a:t>
            </a:r>
            <a:endParaRPr/>
          </a:p>
        </p:txBody>
      </p:sp>
      <p:graphicFrame>
        <p:nvGraphicFramePr>
          <p:cNvPr id="884255922" name="Tabelle 3" hidden="0"/>
          <p:cNvGraphicFramePr>
            <a:graphicFrameLocks xmlns:a="http://schemas.openxmlformats.org/drawingml/2006/main"/>
          </p:cNvGraphicFramePr>
          <p:nvPr isPhoto="0" userDrawn="0"/>
        </p:nvGraphicFramePr>
        <p:xfrm>
          <a:off x="365316" y="1223982"/>
          <a:ext cx="8244354" cy="521868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{DF92EEDC-EE0C-F62C-6FFB-81ECE491A34C}</a:tableStyleId>
              </a:tblPr>
              <a:tblGrid>
                <a:gridCol w="1133061"/>
                <a:gridCol w="1133061"/>
                <a:gridCol w="1133060"/>
                <a:gridCol w="1100812"/>
                <a:gridCol w="1165309"/>
                <a:gridCol w="1133061"/>
                <a:gridCol w="1445980"/>
              </a:tblGrid>
              <a:tr h="91410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Sr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Turns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Angular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Voltage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Zero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Average 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Voltage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Sensitivity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(sec)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deg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deg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/s)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V)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V)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(mV/(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deg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/sec))</a:t>
                      </a:r>
                      <a:endParaRPr sz="14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5,066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-180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-35,531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2,375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5,21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7021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2,530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-180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-71,146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2,191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693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3,403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360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105,789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3,104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5,14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2,599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-360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-138,515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1,843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5,18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1,784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360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201,794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3,598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5,14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1,032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-360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-348,837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0,762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5,15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5,027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35,807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2,743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5,11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8,370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-180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-21,505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2,447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5,25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12,538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14,356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2,632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5,02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37,400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-270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-7,219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2,521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5,40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34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11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3,200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90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28,125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2.56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2,703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5,08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01336" name="Titel 1" hidden="0"/>
          <p:cNvSpPr>
            <a:spLocks noGrp="1"/>
          </p:cNvSpPr>
          <p:nvPr isPhoto="0" userDrawn="0"/>
        </p:nvSpPr>
        <p:spPr bwMode="auto">
          <a:xfrm>
            <a:off x="287999" y="281538"/>
            <a:ext cx="7886700" cy="739774"/>
          </a:xfrm>
        </p:spPr>
        <p:txBody>
          <a:bodyPr vert="horz" wrap="square" lIns="0" tIns="0" rIns="0" bIns="0" numCol="1" anchor="t" anchorCtr="0" compatLnSpc="1">
            <a:prstTxWarp prst="textNoShape"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2pPr>
            <a:lvl3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3pPr>
            <a:lvl4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4pPr>
            <a:lvl5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defRPr/>
            </a:pPr>
            <a:r>
              <a:rPr lang="de-DE" sz="2600"/>
              <a:t>Sensitivity</a:t>
            </a:r>
            <a:r>
              <a:rPr lang="de-DE" sz="2600"/>
              <a:t> </a:t>
            </a:r>
            <a:r>
              <a:rPr lang="de-DE" sz="2600"/>
              <a:t>of</a:t>
            </a:r>
            <a:r>
              <a:rPr lang="de-DE" sz="2600"/>
              <a:t> ADXRS 300</a:t>
            </a:r>
            <a:endParaRPr lang="de-DE" sz="2600"/>
          </a:p>
        </p:txBody>
      </p:sp>
      <p:graphicFrame>
        <p:nvGraphicFramePr>
          <p:cNvPr id="1850514052" name="Tabelle 3" hidden="0"/>
          <p:cNvGraphicFramePr>
            <a:graphicFrameLocks xmlns:a="http://schemas.openxmlformats.org/drawingml/2006/main"/>
          </p:cNvGraphicFramePr>
          <p:nvPr isPhoto="0" userDrawn="0"/>
        </p:nvGraphicFramePr>
        <p:xfrm>
          <a:off x="476249" y="4802844"/>
          <a:ext cx="2108199" cy="130555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{DF92EEDC-EE0C-F62C-6FFB-81ECE491A34C}</a:tableStyleId>
              </a:tblPr>
              <a:tblGrid>
                <a:gridCol w="2108199"/>
              </a:tblGrid>
              <a:tr h="579966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Average </a:t>
                      </a:r>
                      <a:r>
                        <a:rPr lang="de-DE"/>
                        <a:t>Sensitivity</a:t>
                      </a:r>
                      <a:endParaRPr lang="de-DE"/>
                    </a:p>
                  </a:txBody>
                  <a:tcPr/>
                </a:tc>
              </a:tr>
              <a:tr h="579966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5,17</a:t>
                      </a:r>
                      <a:endParaRPr lang="de-DE"/>
                    </a:p>
                    <a:p>
                      <a:pPr>
                        <a:defRPr/>
                      </a:pPr>
                      <a:r>
                        <a:rPr lang="de-DE"/>
                        <a:t>mV/(</a:t>
                      </a:r>
                      <a:r>
                        <a:rPr lang="de-DE"/>
                        <a:t>deg</a:t>
                      </a:r>
                      <a:r>
                        <a:rPr lang="de-DE"/>
                        <a:t>/sec)</a:t>
                      </a:r>
                      <a:endParaRPr lang="de-DE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70669902" name="" hidden="0"/>
          <p:cNvSpPr txBox="1"/>
          <p:nvPr isPhoto="0" userDrawn="0"/>
        </p:nvSpPr>
        <p:spPr bwMode="auto">
          <a:xfrm flipH="0" flipV="0">
            <a:off x="253027" y="1321835"/>
            <a:ext cx="6289162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Specified: </a:t>
            </a:r>
            <a:endParaRPr/>
          </a:p>
        </p:txBody>
      </p:sp>
      <p:graphicFrame>
        <p:nvGraphicFramePr>
          <p:cNvPr id="1395854403" name="Tabelle 3" hidden="0"/>
          <p:cNvGraphicFramePr>
            <a:graphicFrameLocks xmlns:a="http://schemas.openxmlformats.org/drawingml/2006/main"/>
          </p:cNvGraphicFramePr>
          <p:nvPr isPhoto="0" userDrawn="0"/>
        </p:nvGraphicFramePr>
        <p:xfrm>
          <a:off x="476249" y="1887027"/>
          <a:ext cx="2108199" cy="130555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{DF92EEDC-EE0C-F62C-6FFB-81ECE491A34C}</a:tableStyleId>
              </a:tblPr>
              <a:tblGrid>
                <a:gridCol w="2108199"/>
              </a:tblGrid>
              <a:tr h="586313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Sensitivity</a:t>
                      </a:r>
                      <a:endParaRPr lang="de-DE"/>
                    </a:p>
                  </a:txBody>
                  <a:tcPr/>
                </a:tc>
              </a:tr>
              <a:tr h="586313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4,6 - 5,4</a:t>
                      </a:r>
                      <a:endParaRPr lang="de-DE"/>
                    </a:p>
                    <a:p>
                      <a:pPr>
                        <a:defRPr/>
                      </a:pPr>
                      <a:r>
                        <a:rPr lang="de-DE"/>
                        <a:t>mV/(</a:t>
                      </a:r>
                      <a:r>
                        <a:rPr lang="de-DE"/>
                        <a:t>deg</a:t>
                      </a:r>
                      <a:r>
                        <a:rPr lang="de-DE"/>
                        <a:t>/sec)</a:t>
                      </a:r>
                      <a:endParaRPr lang="de-DE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79848713" name="" hidden="0"/>
          <p:cNvSpPr txBox="1"/>
          <p:nvPr isPhoto="0" userDrawn="0"/>
        </p:nvSpPr>
        <p:spPr bwMode="auto">
          <a:xfrm flipH="0" flipV="0">
            <a:off x="302294" y="3994666"/>
            <a:ext cx="6289486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Observed: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50713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/>
              <a:t>Voltage vs Angular Rate Graph -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ADXRS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300</a:t>
            </a:r>
            <a:endParaRPr/>
          </a:p>
        </p:txBody>
      </p:sp>
      <p:graphicFrame>
        <p:nvGraphicFramePr>
          <p:cNvPr id="1259584302" name="" hidden="0"/>
          <p:cNvGraphicFramePr>
            <a:graphicFrameLocks xmlns:a="http://schemas.openxmlformats.org/drawingml/2006/main"/>
          </p:cNvGraphicFramePr>
          <p:nvPr isPhoto="0" userDrawn="0"/>
        </p:nvGraphicFramePr>
        <p:xfrm>
          <a:off x="759106" y="1321836"/>
          <a:ext cx="7095152" cy="5092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0" name="" hidden="0"/>
          <p:cNvCxnSpPr>
            <a:cxnSpLocks/>
          </p:cNvCxnSpPr>
          <p:nvPr isPhoto="0" userDrawn="0"/>
        </p:nvCxnSpPr>
        <p:spPr bwMode="auto">
          <a:xfrm flipH="0" flipV="1">
            <a:off x="1624132" y="1953596"/>
            <a:ext cx="5666402" cy="3275433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871537" name="Titel 1" hidden="0"/>
          <p:cNvSpPr>
            <a:spLocks noGrp="1"/>
          </p:cNvSpPr>
          <p:nvPr isPhoto="0" userDrawn="0"/>
        </p:nvSpPr>
        <p:spPr bwMode="auto">
          <a:xfrm>
            <a:off x="288000" y="365124"/>
            <a:ext cx="7800975" cy="561974"/>
          </a:xfrm>
        </p:spPr>
        <p:txBody>
          <a:bodyPr vert="horz" wrap="square" lIns="0" tIns="0" rIns="0" bIns="0" numCol="1" anchor="t" anchorCtr="0" compatLnSpc="1">
            <a:prstTxWarp prst="textNoShape"/>
            <a:normAutofit fontScale="90000"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2pPr>
            <a:lvl3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3pPr>
            <a:lvl4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4pPr>
            <a:lvl5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defRPr/>
            </a:pPr>
            <a:r>
              <a:rPr lang="de-DE"/>
              <a:t>Saturation </a:t>
            </a:r>
            <a:r>
              <a:rPr lang="de-DE"/>
              <a:t>of</a:t>
            </a:r>
            <a:r>
              <a:rPr lang="de-DE"/>
              <a:t> ADXRS 300 </a:t>
            </a:r>
            <a:endParaRPr lang="de-DE"/>
          </a:p>
        </p:txBody>
      </p:sp>
      <p:sp>
        <p:nvSpPr>
          <p:cNvPr id="1067286178" name="Textfeld 4" hidden="0"/>
          <p:cNvSpPr txBox="1"/>
          <p:nvPr isPhoto="0" userDrawn="0"/>
        </p:nvSpPr>
        <p:spPr bwMode="auto">
          <a:xfrm>
            <a:off x="344065" y="1247157"/>
            <a:ext cx="4639249" cy="64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  <a:p>
            <a:pPr>
              <a:defRPr/>
            </a:pPr>
            <a:r>
              <a:rPr lang="de-DE"/>
              <a:t>Angular Rate = 400 </a:t>
            </a:r>
            <a:r>
              <a:rPr lang="de-DE"/>
              <a:t>deg</a:t>
            </a:r>
            <a:r>
              <a:rPr lang="de-DE"/>
              <a:t>/sec</a:t>
            </a:r>
            <a:endParaRPr lang="de-DE"/>
          </a:p>
        </p:txBody>
      </p:sp>
      <p:pic>
        <p:nvPicPr>
          <p:cNvPr id="78560349" name="Grafik 3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333373" y="1868849"/>
            <a:ext cx="7608360" cy="4595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110280" name="Fußzeilenplatzhalter 4" hidden="0"/>
          <p:cNvSpPr>
            <a:spLocks noGrp="1"/>
          </p:cNvSpPr>
          <p:nvPr isPhoto="0" userDrawn="0">
            <p:ph type="ftr" sz="quarter" idx="10" hasCustomPrompt="0"/>
          </p:nvPr>
        </p:nvSpPr>
        <p:spPr bwMode="auto">
          <a:xfrm>
            <a:off x="287337" y="6551613"/>
            <a:ext cx="8064499" cy="215898"/>
          </a:xfr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>
                <a:solidFill>
                  <a:prstClr val="black"/>
                </a:solidFill>
              </a:rPr>
              <a:t>© FH AACHEN </a:t>
            </a:r>
            <a:r>
              <a:rPr lang="de-DE">
                <a:solidFill>
                  <a:prstClr val="black"/>
                </a:solidFill>
              </a:rPr>
              <a:t>UNIVERSITY OF APPLIED SCIENCES  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240747939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Bosch SMG040</a:t>
            </a:r>
            <a:endParaRPr/>
          </a:p>
        </p:txBody>
      </p:sp>
      <p:graphicFrame>
        <p:nvGraphicFramePr>
          <p:cNvPr id="1042896685" name="Tabelle 3" hidden="0"/>
          <p:cNvGraphicFramePr>
            <a:graphicFrameLocks xmlns:a="http://schemas.openxmlformats.org/drawingml/2006/main"/>
          </p:cNvGraphicFramePr>
          <p:nvPr isPhoto="0" userDrawn="0"/>
        </p:nvGraphicFramePr>
        <p:xfrm>
          <a:off x="399489" y="1186721"/>
          <a:ext cx="8423282" cy="514749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{DF92EEDC-EE0C-F62C-6FFB-81ECE491A34C}</a:tableStyleId>
              </a:tblPr>
              <a:tblGrid>
                <a:gridCol w="437777"/>
                <a:gridCol w="1028666"/>
                <a:gridCol w="776353"/>
                <a:gridCol w="1067939"/>
                <a:gridCol w="1737726"/>
                <a:gridCol w="1548306"/>
                <a:gridCol w="1597720"/>
              </a:tblGrid>
              <a:tr h="73410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Sr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defRPr/>
                      </a:pP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Turns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defRPr/>
                      </a:pP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Angular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Rate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defRPr/>
                      </a:pP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Voltage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Zero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Value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Average 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Voltage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Value 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Sensitivity</a:t>
                      </a: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endParaRPr lang="de-DE"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(sec)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(deg)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(deg/s)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(V)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(V)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lang="de-DE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mV/(</a:t>
                      </a:r>
                      <a:r>
                        <a:rPr lang="de-DE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deg</a:t>
                      </a:r>
                      <a:r>
                        <a:rPr lang="de-DE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/sec))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5,009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35,935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2,62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6,68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2,925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61,538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2,78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6,66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3,339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-107,817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1,59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6,96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2,576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139,752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3,291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42180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1,578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-228,137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6,49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1,134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317,460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4,41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6,52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5,019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-35,864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2,06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6,97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8,338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21,588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2,458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6,86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49765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12,495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-14,406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2,23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6,94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49765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37,550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7,190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6,95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  <a:tr h="32797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</a:rPr>
                        <a:t>11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3,140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-90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-28,662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2,34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2,147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6,73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222029" name="Titel 1" hidden="0"/>
          <p:cNvSpPr>
            <a:spLocks noGrp="1"/>
          </p:cNvSpPr>
          <p:nvPr isPhoto="0" userDrawn="0"/>
        </p:nvSpPr>
        <p:spPr bwMode="auto">
          <a:xfrm>
            <a:off x="287999" y="281538"/>
            <a:ext cx="7886700" cy="739774"/>
          </a:xfrm>
        </p:spPr>
        <p:txBody>
          <a:bodyPr vert="horz" wrap="square" lIns="0" tIns="0" rIns="0" bIns="0" numCol="1" anchor="t" anchorCtr="0" compatLnSpc="1">
            <a:prstTxWarp prst="textNoShape"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2pPr>
            <a:lvl3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3pPr>
            <a:lvl4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4pPr>
            <a:lvl5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defRPr/>
            </a:pPr>
            <a:r>
              <a:rPr lang="de-DE" sz="2600"/>
              <a:t>Sensitivity</a:t>
            </a:r>
            <a:r>
              <a:rPr lang="de-DE" sz="2600"/>
              <a:t> </a:t>
            </a:r>
            <a:r>
              <a:rPr lang="de-DE" sz="2600"/>
              <a:t>of</a:t>
            </a:r>
            <a:r>
              <a:rPr lang="de-DE" sz="2600"/>
              <a:t> Bosch SMG040</a:t>
            </a:r>
            <a:endParaRPr lang="de-DE" sz="2600"/>
          </a:p>
        </p:txBody>
      </p:sp>
      <p:graphicFrame>
        <p:nvGraphicFramePr>
          <p:cNvPr id="664472450" name="Tabelle 3" hidden="0"/>
          <p:cNvGraphicFramePr>
            <a:graphicFrameLocks xmlns:a="http://schemas.openxmlformats.org/drawingml/2006/main"/>
          </p:cNvGraphicFramePr>
          <p:nvPr isPhoto="0" userDrawn="0"/>
        </p:nvGraphicFramePr>
        <p:xfrm>
          <a:off x="476249" y="4589019"/>
          <a:ext cx="2108199" cy="130555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{DF92EEDC-EE0C-F62C-6FFB-81ECE491A34C}</a:tableStyleId>
              </a:tblPr>
              <a:tblGrid>
                <a:gridCol w="2108199"/>
              </a:tblGrid>
              <a:tr h="579966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Average </a:t>
                      </a:r>
                      <a:r>
                        <a:rPr lang="de-DE"/>
                        <a:t>Sensitivity</a:t>
                      </a:r>
                      <a:endParaRPr lang="de-DE"/>
                    </a:p>
                  </a:txBody>
                  <a:tcPr/>
                </a:tc>
              </a:tr>
              <a:tr h="579966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6,78 mV/(</a:t>
                      </a:r>
                      <a:r>
                        <a:rPr lang="de-DE"/>
                        <a:t>deg</a:t>
                      </a:r>
                      <a:r>
                        <a:rPr lang="de-DE"/>
                        <a:t>/sec)</a:t>
                      </a:r>
                      <a:endParaRPr lang="de-DE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4121442" name="" hidden="0"/>
          <p:cNvSpPr txBox="1"/>
          <p:nvPr isPhoto="0" userDrawn="0"/>
        </p:nvSpPr>
        <p:spPr bwMode="auto">
          <a:xfrm flipH="0" flipV="0">
            <a:off x="302294" y="1321835"/>
            <a:ext cx="6289198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Specified: </a:t>
            </a:r>
            <a:endParaRPr/>
          </a:p>
        </p:txBody>
      </p:sp>
      <p:graphicFrame>
        <p:nvGraphicFramePr>
          <p:cNvPr id="367034940" name="Tabelle 3" hidden="0"/>
          <p:cNvGraphicFramePr>
            <a:graphicFrameLocks xmlns:a="http://schemas.openxmlformats.org/drawingml/2006/main"/>
          </p:cNvGraphicFramePr>
          <p:nvPr isPhoto="0" userDrawn="0"/>
        </p:nvGraphicFramePr>
        <p:xfrm>
          <a:off x="476249" y="1887027"/>
          <a:ext cx="2108199" cy="130555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{DF92EEDC-EE0C-F62C-6FFB-81ECE491A34C}</a:tableStyleId>
              </a:tblPr>
              <a:tblGrid>
                <a:gridCol w="2108199"/>
              </a:tblGrid>
              <a:tr h="592663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Sensitivity</a:t>
                      </a:r>
                      <a:endParaRPr lang="de-DE"/>
                    </a:p>
                  </a:txBody>
                  <a:tcPr/>
                </a:tc>
              </a:tr>
              <a:tr h="592663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6,50 - 7,50</a:t>
                      </a:r>
                      <a:endParaRPr lang="de-DE"/>
                    </a:p>
                    <a:p>
                      <a:pPr>
                        <a:defRPr/>
                      </a:pPr>
                      <a:r>
                        <a:rPr lang="de-DE"/>
                        <a:t>mV/(</a:t>
                      </a:r>
                      <a:r>
                        <a:rPr lang="de-DE"/>
                        <a:t>deg</a:t>
                      </a:r>
                      <a:r>
                        <a:rPr lang="de-DE"/>
                        <a:t>/sec)</a:t>
                      </a:r>
                      <a:endParaRPr lang="de-DE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73950393" name="" hidden="0"/>
          <p:cNvSpPr txBox="1"/>
          <p:nvPr isPhoto="0" userDrawn="0"/>
        </p:nvSpPr>
        <p:spPr bwMode="auto">
          <a:xfrm flipH="0" flipV="0">
            <a:off x="302294" y="3994666"/>
            <a:ext cx="6289522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Observed: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925190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/>
              <a:t>Voltage vs Angular Rate Graph -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ADXRS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300</a:t>
            </a:r>
            <a:endParaRPr/>
          </a:p>
        </p:txBody>
      </p:sp>
      <p:sp>
        <p:nvSpPr>
          <p:cNvPr id="1611534277" name="" hidden="0"/>
          <p:cNvSpPr/>
          <p:nvPr isPhoto="0" userDrawn="0"/>
        </p:nvSpPr>
        <p:spPr bwMode="auto">
          <a:xfrm flipH="0" flipV="0">
            <a:off x="-532394" y="823346"/>
            <a:ext cx="138911" cy="184653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noAutofit/>
          </a:bodyPr>
          <a:p>
            <a:pPr>
              <a:defRPr/>
            </a:pPr>
            <a:endParaRPr/>
          </a:p>
        </p:txBody>
      </p:sp>
      <p:pic>
        <p:nvPicPr>
          <p:cNvPr id="1164957970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553737" y="1224534"/>
            <a:ext cx="7494909" cy="5243979"/>
          </a:xfrm>
          <a:prstGeom prst="rect">
            <a:avLst/>
          </a:prstGeom>
        </p:spPr>
      </p:pic>
      <p:cxnSp>
        <p:nvCxnSpPr>
          <p:cNvPr id="0" name="" hidden="0"/>
          <p:cNvCxnSpPr>
            <a:cxnSpLocks/>
          </p:cNvCxnSpPr>
          <p:nvPr isPhoto="0" userDrawn="0"/>
        </p:nvCxnSpPr>
        <p:spPr bwMode="auto">
          <a:xfrm flipH="0" flipV="1">
            <a:off x="1526938" y="1798086"/>
            <a:ext cx="6016300" cy="3537856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566928" name="Titel 1" hidden="0"/>
          <p:cNvSpPr>
            <a:spLocks noGrp="1"/>
          </p:cNvSpPr>
          <p:nvPr isPhoto="0" userDrawn="0"/>
        </p:nvSpPr>
        <p:spPr bwMode="auto">
          <a:xfrm>
            <a:off x="288000" y="365124"/>
            <a:ext cx="7800975" cy="561974"/>
          </a:xfrm>
        </p:spPr>
        <p:txBody>
          <a:bodyPr vert="horz" wrap="square" lIns="0" tIns="0" rIns="0" bIns="0" numCol="1" anchor="t" anchorCtr="0" compatLnSpc="1">
            <a:prstTxWarp prst="textNoShape"/>
            <a:normAutofit fontScale="90000"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2pPr>
            <a:lvl3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3pPr>
            <a:lvl4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4pPr>
            <a:lvl5pPr algn="l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Verdana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defRPr sz="4400"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defRPr/>
            </a:pPr>
            <a:r>
              <a:rPr lang="de-DE"/>
              <a:t>Saturation </a:t>
            </a:r>
            <a:r>
              <a:rPr lang="de-DE"/>
              <a:t>of</a:t>
            </a:r>
            <a:r>
              <a:rPr lang="de-DE"/>
              <a:t> Bosch SMG040 </a:t>
            </a:r>
            <a:endParaRPr lang="de-DE"/>
          </a:p>
        </p:txBody>
      </p:sp>
      <p:sp>
        <p:nvSpPr>
          <p:cNvPr id="278537350" name="Textfeld 4" hidden="0"/>
          <p:cNvSpPr txBox="1"/>
          <p:nvPr isPhoto="0" userDrawn="0"/>
        </p:nvSpPr>
        <p:spPr bwMode="auto">
          <a:xfrm>
            <a:off x="344065" y="1247157"/>
            <a:ext cx="4639933" cy="64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  <a:p>
            <a:pPr>
              <a:defRPr/>
            </a:pPr>
            <a:r>
              <a:rPr lang="de-DE"/>
              <a:t>Angular Rate = 350 </a:t>
            </a:r>
            <a:r>
              <a:rPr lang="de-DE"/>
              <a:t>deg</a:t>
            </a:r>
            <a:r>
              <a:rPr lang="de-DE"/>
              <a:t>/sec</a:t>
            </a:r>
            <a:endParaRPr lang="de-DE"/>
          </a:p>
        </p:txBody>
      </p:sp>
      <p:pic>
        <p:nvPicPr>
          <p:cNvPr id="2088354365" name="Grafik 3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904897" y="1910181"/>
            <a:ext cx="6716096" cy="4562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86827" name="Titel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288000" y="288000"/>
            <a:ext cx="8064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/>
              </a:defRPr>
            </a:lvl1pPr>
          </a:lstStyle>
          <a:p>
            <a:pPr>
              <a:defRPr/>
            </a:pPr>
            <a:r>
              <a:rPr/>
              <a:t>Conclusion</a:t>
            </a:r>
            <a:endParaRPr/>
          </a:p>
        </p:txBody>
      </p:sp>
      <p:graphicFrame>
        <p:nvGraphicFramePr>
          <p:cNvPr id="416426607" name="" hidden="0"/>
          <p:cNvGraphicFramePr>
            <a:graphicFrameLocks xmlns:a="http://schemas.openxmlformats.org/drawingml/2006/main"/>
          </p:cNvGraphicFramePr>
          <p:nvPr isPhoto="0" userDrawn="0"/>
        </p:nvGraphicFramePr>
        <p:xfrm>
          <a:off x="904509" y="2506718"/>
          <a:ext cx="7147902" cy="216476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{6A284F7C-F091-DC8C-58A7-07C9AAADE816}</a:tableStyleId>
              </a:tblPr>
              <a:tblGrid>
                <a:gridCol w="3083902"/>
                <a:gridCol w="2031999"/>
                <a:gridCol w="2031999"/>
              </a:tblGrid>
              <a:tr h="423645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Property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ADXRS 300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SMG040</a:t>
                      </a:r>
                      <a:endParaRPr/>
                    </a:p>
                  </a:txBody>
                  <a:tcPr/>
                </a:tc>
              </a:tr>
              <a:tr h="730718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Maximum Rate (deg/sec)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350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300</a:t>
                      </a:r>
                      <a:endParaRPr/>
                    </a:p>
                  </a:txBody>
                  <a:tcPr/>
                </a:tc>
              </a:tr>
              <a:tr h="423645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Sensitivity (mV sec/deg)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5,17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6,78</a:t>
                      </a:r>
                      <a:endParaRPr/>
                    </a:p>
                  </a:txBody>
                  <a:tcPr/>
                </a:tc>
              </a:tr>
              <a:tr h="586761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Zero Value Voltage (V)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2,56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2,34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41138701" name="" hidden="0"/>
          <p:cNvSpPr txBox="1"/>
          <p:nvPr isPhoto="0" userDrawn="0"/>
        </p:nvSpPr>
        <p:spPr bwMode="auto">
          <a:xfrm flipH="0" flipV="0">
            <a:off x="582662" y="1323603"/>
            <a:ext cx="7137564" cy="892763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no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176208" name="Titel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288000" y="2016000"/>
            <a:ext cx="8064000" cy="2520000"/>
          </a:xfrm>
        </p:spPr>
        <p:txBody>
          <a:bodyPr/>
          <a:lstStyle>
            <a:lvl1pPr algn="l">
              <a:defRPr sz="4800">
                <a:solidFill>
                  <a:schemeClr val="tx1"/>
                </a:solidFill>
                <a:latin typeface="Verdana"/>
              </a:defRPr>
            </a:lvl1pPr>
          </a:lstStyle>
          <a:p>
            <a:pPr algn="ctr">
              <a:defRPr/>
            </a:pPr>
            <a:r>
              <a:rPr lang="en-US" sz="4800" b="0" i="0" u="none" strike="noStrike" cap="none" spc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Thank you for your attention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Vorlage_Powerpoint_2010">
  <a:themeElements>
    <a:clrScheme name="FHAAC Farben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AC"/>
      </a:accent1>
      <a:accent2>
        <a:srgbClr val="13A39A"/>
      </a:accent2>
      <a:accent3>
        <a:srgbClr val="0C9088"/>
      </a:accent3>
      <a:accent4>
        <a:srgbClr val="006D68"/>
      </a:accent4>
      <a:accent5>
        <a:srgbClr val="004744"/>
      </a:accent5>
      <a:accent6>
        <a:srgbClr val="000000"/>
      </a:accent6>
      <a:hlink>
        <a:srgbClr val="0000FF"/>
      </a:hlink>
      <a:folHlink>
        <a:srgbClr val="800080"/>
      </a:folHlink>
    </a:clrScheme>
    <a:fontScheme name="FHAAC Schrift">
      <a:majorFont>
        <a:latin typeface="Verdana"/>
        <a:ea typeface="Arial"/>
        <a:cs typeface="Arial"/>
      </a:majorFont>
      <a:minorFont>
        <a:latin typeface="Verdana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Vorlage_Powerpoint_2010</Template>
  <TotalTime>0</TotalTime>
  <Words>0</Words>
  <Application>ONLYOFFICE/6.4.2.6</Application>
  <DocSecurity>0</DocSecurity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Mergers And Acquisitions</dc:title>
  <dc:subject/>
  <dc:creator>Amod  Raut</dc:creator>
  <cp:keywords/>
  <dc:description/>
  <dc:identifier/>
  <dc:language/>
  <cp:lastModifiedBy>Ramamurthy, Aadithya (ar2178s@fh-aachen.de)</cp:lastModifiedBy>
  <cp:revision>79</cp:revision>
  <dcterms:created xsi:type="dcterms:W3CDTF">2021-04-23T20:45:50Z</dcterms:created>
  <dcterms:modified xsi:type="dcterms:W3CDTF">2022-01-17T14:05:50Z</dcterms:modified>
  <cp:category/>
  <cp:contentStatus/>
  <cp:version/>
</cp:coreProperties>
</file>